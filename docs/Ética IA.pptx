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2C468-50ED-E6FF-9F91-46FFA12BA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097038-4AFF-D828-0C17-9CCDEB478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E7CBD6-99F0-3919-DA0B-524854C1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B33279-E088-72EE-5205-DE376F28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851FCB-2471-DFA1-AA85-D5BCE0F1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1392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B6391-4024-781C-F779-2FF8BD3C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585427-A063-2A81-8AA1-82E5F8F19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15BBE0-97C2-3191-573A-47F6F211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251766-BB3F-C7DF-1E2C-6EDADACA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DF6605-51EB-775C-875D-D58FDDBF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18262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A022A-26E0-ABD1-6F61-099F3F648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B0B3FB-1C39-2C8F-10A5-295957F86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572BC6-92E9-9E06-0463-F8CA73C0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16B0BB-1331-AAA1-3CA5-7AE34E0C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D8ED04-6C25-C461-051D-690EA74D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6268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2E3DE-9CA5-C4D0-976C-6CD48EA1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67C6AB-D9DC-576C-C35A-BE637561F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7AB657-C214-C75B-6038-10922CEC0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B0E373-92B6-7F5D-7E35-C848099A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1EF073-DC85-D3B7-D38C-16E50869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AA9F74-1B81-5FB5-A70A-9B975581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3921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8004C-6D44-9478-CE36-9BD81D19D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F14BFA-A4E0-11B4-E4BA-67CAD1D8F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648EE3-2344-D6FE-FE25-A25615FE0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E6CE8D-25C5-5790-0B00-818685104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82CF2B7-A965-863D-4C95-B349C285E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643C97-3748-AFFA-6A39-C68B0DA4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E5B031-EB5B-15F1-DA9A-77E56BC4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541D6A-01A9-2627-14D0-0D3106DC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1605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97D1E-F202-7D21-19D7-CBA62490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F62250-D062-C860-EFCD-69E90FAA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0B3036-68E5-E30B-4A56-072F440F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1D3E4B-9D2F-4081-EF01-16D40E21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9019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D5E349-9F67-DFEE-3C0F-61718CF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290F85C-90A2-92AC-FC37-E9A7B620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28C0C1-6798-FC08-041B-56A6465A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5160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050A7-5A75-6CE9-3786-0CFB53744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4C5C95-6567-ADC6-F4AE-6115DFC78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C719D5-7010-D5EC-0DE2-231D8C55D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8042A8-4682-417D-C9B0-28C36FCE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682236-037B-F7F7-2B89-F80659FD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33B453-EAC3-F127-1C23-C9F1A8AE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2566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46F6E-5274-CDA6-3A9C-E9CE81338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FC40A4-A333-51FE-253B-F94F3B3F9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9D9587-0ED0-A9D8-9332-7730D37FE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0C670F-A0B0-25ED-0DAB-359B0419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B37203-B2BD-9A78-AEE5-E3F98F2DD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3FB99B-818D-A31F-5F3A-BCBDD55B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7784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A2AD3-981F-F7DD-F14C-95A09297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29CCA8-E1EA-CDFC-B377-A753F2DB3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B2C77F-03BE-62B6-35B0-790B6103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37A647-C6E6-31F5-F5F5-00AB5AB6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36D14A-1CFB-BAFF-55B8-AA2C7107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8380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E4A6FA-EE4B-8521-957E-2B61FA1B0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6E87B0-2980-BE5D-19EE-AD2D9909D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74C974-A37E-4C6F-A8DC-824C3214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824A29-A8F1-E02A-C46B-0F14C0A9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892FB4-2ADC-FEC0-8135-25FCE5A5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5888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6D6382F-0B5B-0C59-D312-4A11EA95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D73E19-BFC1-8242-5636-36EC74DFD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6B9D21-C230-0E8E-8A32-A7B46B337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34449-82D4-4305-9516-A4F1EB7B1C61}" type="datetimeFigureOut">
              <a:rPr lang="es-EC" smtClean="0"/>
              <a:t>22/4/2026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55A7C1-4DB6-0F18-1040-CE4DF1D79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A9BF1C-87E4-3F79-02D3-26CFF981A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5DCD7-B0CD-4848-91B1-C76DA409CD20}" type="slidenum">
              <a:rPr lang="es-EC" smtClean="0"/>
              <a:t>‹Nº›</a:t>
            </a:fld>
            <a:endParaRPr lang="es-EC"/>
          </a:p>
        </p:txBody>
      </p:sp>
      <p:sp>
        <p:nvSpPr>
          <p:cNvPr id="9001" name="Left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002" name="BottomAccentBar"/>
          <p:cNvSpPr/>
          <p:nvPr userDrawn="1"/>
        </p:nvSpPr>
        <p:spPr>
          <a:xfrm>
            <a:off x="457200" y="6705600"/>
            <a:ext cx="1524000" cy="381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003" name="GoldDot"/>
          <p:cNvSpPr/>
          <p:nvPr userDrawn="1"/>
        </p:nvSpPr>
        <p:spPr>
          <a:xfrm>
            <a:off x="8915400" y="6705600"/>
            <a:ext cx="76200" cy="76200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930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4C5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B2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2B2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2B2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B2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B2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B2E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B2E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B2E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B2E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C83C028-2361-4A5E-92FD-593877A73513}"/>
              </a:ext>
            </a:extLst>
          </p:cNvPr>
          <p:cNvSpPr/>
          <p:nvPr/>
        </p:nvSpPr>
        <p:spPr>
          <a:xfrm>
            <a:off x="0" y="0"/>
            <a:ext cx="4318000" cy="68580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BC2B312-EE51-4484-8C47-1BB063A9375F}"/>
              </a:ext>
            </a:extLst>
          </p:cNvPr>
          <p:cNvSpPr/>
          <p:nvPr/>
        </p:nvSpPr>
        <p:spPr>
          <a:xfrm>
            <a:off x="9906000" y="762000"/>
            <a:ext cx="1524000" cy="1524000"/>
          </a:xfrm>
          <a:prstGeom prst="rect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FDAECFA-D8E4-4F82-B384-362513DEE824}"/>
              </a:ext>
            </a:extLst>
          </p:cNvPr>
          <p:cNvSpPr/>
          <p:nvPr/>
        </p:nvSpPr>
        <p:spPr>
          <a:xfrm>
            <a:off x="9398000" y="2540000"/>
            <a:ext cx="304800" cy="304800"/>
          </a:xfrm>
          <a:prstGeom prst="ellipse">
            <a:avLst/>
          </a:prstGeom>
          <a:solidFill>
            <a:srgbClr val="D4A3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D43D35-7CA4-408E-951B-CFE0B7C2B1BF}"/>
              </a:ext>
            </a:extLst>
          </p:cNvPr>
          <p:cNvSpPr txBox="1"/>
          <p:nvPr/>
        </p:nvSpPr>
        <p:spPr>
          <a:xfrm>
            <a:off x="508000" y="22860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F5EFE6"/>
                </a:solidFill>
                <a:latin typeface="Inter"/>
              </a:rPr>
              <a:t>INTELIGENCIA ARTIFICIAL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10C26B0-367B-44F8-BA36-834A64B0C998}"/>
              </a:ext>
            </a:extLst>
          </p:cNvPr>
          <p:cNvSpPr txBox="1"/>
          <p:nvPr/>
        </p:nvSpPr>
        <p:spPr>
          <a:xfrm>
            <a:off x="4826000" y="2540000"/>
            <a:ext cx="6858000" cy="203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4400" b="1">
                <a:solidFill>
                  <a:srgbClr val="0F4C5C"/>
                </a:solidFill>
                <a:latin typeface="Playfair Display"/>
              </a:rPr>
              <a:t>Ética de la Inteligencia Artificial</a:t>
            </a:r>
            <a:endParaRPr lang="es-EC" sz="4400" b="1">
              <a:solidFill>
                <a:srgbClr val="0F4C5C"/>
              </a:solidFill>
              <a:latin typeface="Playfair Display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7AC300-6665-49FB-A9AB-93503556E25F}"/>
              </a:ext>
            </a:extLst>
          </p:cNvPr>
          <p:cNvSpPr txBox="1"/>
          <p:nvPr/>
        </p:nvSpPr>
        <p:spPr>
          <a:xfrm>
            <a:off x="4826000" y="4699000"/>
            <a:ext cx="6858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>
                <a:solidFill>
                  <a:srgbClr val="3A3845"/>
                </a:solidFill>
                <a:latin typeface="Inter"/>
              </a:rPr>
              <a:t>Impactos, riesgos y responsabilidades en el desarrollo de sistemas autónomos</a:t>
            </a:r>
            <a:endParaRPr lang="es-EC">
              <a:solidFill>
                <a:srgbClr val="3A3845"/>
              </a:solidFill>
              <a:latin typeface="Inter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8E7687B-E86D-43F2-B928-62F7BE441A4D}"/>
              </a:ext>
            </a:extLst>
          </p:cNvPr>
          <p:cNvSpPr txBox="1"/>
          <p:nvPr/>
        </p:nvSpPr>
        <p:spPr>
          <a:xfrm>
            <a:off x="4826000" y="5969000"/>
            <a:ext cx="6858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 dirty="0">
                <a:solidFill>
                  <a:srgbClr val="C84B31"/>
                </a:solidFill>
                <a:latin typeface="Inter"/>
              </a:rPr>
              <a:t>Wilmer Cárdenas y Mateo Tamayo</a:t>
            </a:r>
          </a:p>
        </p:txBody>
      </p:sp>
    </p:spTree>
    <p:extLst>
      <p:ext uri="{BB962C8B-B14F-4D97-AF65-F5344CB8AC3E}">
        <p14:creationId xmlns:p14="http://schemas.microsoft.com/office/powerpoint/2010/main" val="3391686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242E3FE-2B42-4F15-8447-0AE618F81865}"/>
              </a:ext>
            </a:extLst>
          </p:cNvPr>
          <p:cNvSpPr txBox="1"/>
          <p:nvPr/>
        </p:nvSpPr>
        <p:spPr>
          <a:xfrm>
            <a:off x="762000" y="635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C84B31"/>
                </a:solidFill>
                <a:latin typeface="Inter"/>
              </a:rPr>
              <a:t>01  /  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888429-F47E-4025-AFE9-849A4E726252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3600" b="1">
                <a:solidFill>
                  <a:srgbClr val="0F4C5C"/>
                </a:solidFill>
                <a:latin typeface="Playfair Display"/>
              </a:rPr>
              <a:t>¿Por qué hablar de ética en IA?</a:t>
            </a:r>
            <a:endParaRPr lang="es-EC" sz="3600" b="1">
              <a:solidFill>
                <a:srgbClr val="0F4C5C"/>
              </a:solidFill>
              <a:latin typeface="Playfair Display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2C1AC95-D379-4129-88DB-283765064566}"/>
              </a:ext>
            </a:extLst>
          </p:cNvPr>
          <p:cNvSpPr/>
          <p:nvPr/>
        </p:nvSpPr>
        <p:spPr>
          <a:xfrm>
            <a:off x="762000" y="1905000"/>
            <a:ext cx="762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7E9AC8-052D-4238-A16A-B858CF837135}"/>
              </a:ext>
            </a:extLst>
          </p:cNvPr>
          <p:cNvSpPr txBox="1"/>
          <p:nvPr/>
        </p:nvSpPr>
        <p:spPr>
          <a:xfrm>
            <a:off x="762000" y="2286000"/>
            <a:ext cx="5588000" cy="381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600">
                <a:solidFill>
                  <a:srgbClr val="1A2B2E"/>
                </a:solidFill>
                <a:latin typeface="Inter"/>
              </a:rPr>
              <a:t>La inteligencia artificial ya no es una promesa futura: está integrada en decisiones financieras, médicas, educativas y judiciales que afectan la vida de millones de personas.
Su escala y velocidad amplifican tanto los beneficios como los daños. Sin un marco ético, la IA puede reproducir prejuicios, concentrar poder y erosionar derechos fundamentales.</a:t>
            </a:r>
            <a:endParaRPr lang="es-EC" sz="16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FA8289-2287-4767-9CF8-AB826E5D6279}"/>
              </a:ext>
            </a:extLst>
          </p:cNvPr>
          <p:cNvSpPr/>
          <p:nvPr/>
        </p:nvSpPr>
        <p:spPr>
          <a:xfrm>
            <a:off x="6858000" y="2286000"/>
            <a:ext cx="45720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5D3142F-979F-40B8-AF02-FB199308640A}"/>
              </a:ext>
            </a:extLst>
          </p:cNvPr>
          <p:cNvSpPr txBox="1"/>
          <p:nvPr/>
        </p:nvSpPr>
        <p:spPr>
          <a:xfrm>
            <a:off x="7112000" y="2514600"/>
            <a:ext cx="1524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4400" b="1">
                <a:solidFill>
                  <a:srgbClr val="C84B31"/>
                </a:solidFill>
                <a:latin typeface="Playfair Display"/>
              </a:rPr>
              <a:t>78%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E105F0-646E-43E8-B87A-07F9CF61B1EA}"/>
              </a:ext>
            </a:extLst>
          </p:cNvPr>
          <p:cNvSpPr txBox="1"/>
          <p:nvPr/>
        </p:nvSpPr>
        <p:spPr>
          <a:xfrm>
            <a:off x="8763000" y="26670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usará IA en procesos clave hacia 2027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D554D85-DA28-4D6E-A5E5-E728CAD30E7C}"/>
              </a:ext>
            </a:extLst>
          </p:cNvPr>
          <p:cNvSpPr/>
          <p:nvPr/>
        </p:nvSpPr>
        <p:spPr>
          <a:xfrm>
            <a:off x="6858000" y="3937000"/>
            <a:ext cx="45720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2D72CE4-C4BA-446B-9BA0-7624F73A9392}"/>
              </a:ext>
            </a:extLst>
          </p:cNvPr>
          <p:cNvSpPr txBox="1"/>
          <p:nvPr/>
        </p:nvSpPr>
        <p:spPr>
          <a:xfrm>
            <a:off x="7112000" y="4165600"/>
            <a:ext cx="1524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4400" b="1">
                <a:solidFill>
                  <a:srgbClr val="C84B31"/>
                </a:solidFill>
                <a:latin typeface="Playfair Display"/>
              </a:rPr>
              <a:t>40%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2739CBF-D990-4807-99E2-A3298DE7BF2C}"/>
              </a:ext>
            </a:extLst>
          </p:cNvPr>
          <p:cNvSpPr txBox="1"/>
          <p:nvPr/>
        </p:nvSpPr>
        <p:spPr>
          <a:xfrm>
            <a:off x="8763000" y="43180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podrían transformarse por automatización (OIT)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EE03FD3-03E9-438A-BFD7-9775F31F2C09}"/>
              </a:ext>
            </a:extLst>
          </p:cNvPr>
          <p:cNvSpPr/>
          <p:nvPr/>
        </p:nvSpPr>
        <p:spPr>
          <a:xfrm>
            <a:off x="6858000" y="5397500"/>
            <a:ext cx="45720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693CF68-8312-4DBD-8387-B6B131C252D3}"/>
              </a:ext>
            </a:extLst>
          </p:cNvPr>
          <p:cNvSpPr txBox="1"/>
          <p:nvPr/>
        </p:nvSpPr>
        <p:spPr>
          <a:xfrm>
            <a:off x="7112000" y="5626100"/>
            <a:ext cx="1524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4400" b="1">
                <a:solidFill>
                  <a:srgbClr val="C84B31"/>
                </a:solidFill>
                <a:latin typeface="Playfair Display"/>
              </a:rPr>
              <a:t>193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5AD5904-E928-43E8-881C-764329B0FEA3}"/>
              </a:ext>
            </a:extLst>
          </p:cNvPr>
          <p:cNvSpPr txBox="1"/>
          <p:nvPr/>
        </p:nvSpPr>
        <p:spPr>
          <a:xfrm>
            <a:off x="8763000" y="57785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adoptaron la Recomendación UNESCO sobre ética de la IA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793367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ED5145D-2EDB-4EA4-8084-4364C0E8D45F}"/>
              </a:ext>
            </a:extLst>
          </p:cNvPr>
          <p:cNvSpPr txBox="1"/>
          <p:nvPr/>
        </p:nvSpPr>
        <p:spPr>
          <a:xfrm>
            <a:off x="762000" y="635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C84B31"/>
                </a:solidFill>
                <a:latin typeface="Inter"/>
              </a:rPr>
              <a:t>02  /  AGENTES DE 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54FEFD-0BCF-4299-90BA-65EEF849B6EF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3600" b="1">
                <a:solidFill>
                  <a:srgbClr val="0F4C5C"/>
                </a:solidFill>
                <a:latin typeface="Playfair Display"/>
              </a:rPr>
              <a:t>Beneficios de los agentes autónomos</a:t>
            </a:r>
            <a:endParaRPr lang="es-EC" sz="3600" b="1">
              <a:solidFill>
                <a:srgbClr val="0F4C5C"/>
              </a:solidFill>
              <a:latin typeface="Playfair Display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571A57-0265-4C17-9C2B-174EE166BF14}"/>
              </a:ext>
            </a:extLst>
          </p:cNvPr>
          <p:cNvSpPr/>
          <p:nvPr/>
        </p:nvSpPr>
        <p:spPr>
          <a:xfrm>
            <a:off x="762000" y="1905000"/>
            <a:ext cx="762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CC720D-FE0E-4764-B147-BD0277D0D2E5}"/>
              </a:ext>
            </a:extLst>
          </p:cNvPr>
          <p:cNvSpPr txBox="1"/>
          <p:nvPr/>
        </p:nvSpPr>
        <p:spPr>
          <a:xfrm>
            <a:off x="762000" y="2159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500" i="1">
                <a:solidFill>
                  <a:srgbClr val="3A3845"/>
                </a:solidFill>
                <a:latin typeface="Inter"/>
              </a:rPr>
              <a:t>Escenarios donde los sistemas autónomos aportan valor tangible y amplían capacidades humanas:</a:t>
            </a:r>
            <a:endParaRPr lang="es-EC" sz="1500" i="1">
              <a:solidFill>
                <a:srgbClr val="3A3845"/>
              </a:solidFill>
              <a:latin typeface="Inter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AB204AF-7D85-44DA-8B8E-ABB675F895D1}"/>
              </a:ext>
            </a:extLst>
          </p:cNvPr>
          <p:cNvSpPr/>
          <p:nvPr/>
        </p:nvSpPr>
        <p:spPr>
          <a:xfrm>
            <a:off x="762000" y="2794000"/>
            <a:ext cx="5080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FE9798-A08D-4963-8D4F-60BEA25618E6}"/>
              </a:ext>
            </a:extLst>
          </p:cNvPr>
          <p:cNvSpPr/>
          <p:nvPr/>
        </p:nvSpPr>
        <p:spPr>
          <a:xfrm>
            <a:off x="762000" y="2794000"/>
            <a:ext cx="76200" cy="1778000"/>
          </a:xfrm>
          <a:prstGeom prst="rect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963DB3A-2A65-4730-A4FD-158498E409E1}"/>
              </a:ext>
            </a:extLst>
          </p:cNvPr>
          <p:cNvSpPr/>
          <p:nvPr/>
        </p:nvSpPr>
        <p:spPr>
          <a:xfrm>
            <a:off x="1066800" y="3073400"/>
            <a:ext cx="508000" cy="508000"/>
          </a:xfrm>
          <a:prstGeom prst="ellipse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CA412D-97E4-4C2A-9E4F-D34EEDCFE6E5}"/>
              </a:ext>
            </a:extLst>
          </p:cNvPr>
          <p:cNvSpPr txBox="1"/>
          <p:nvPr/>
        </p:nvSpPr>
        <p:spPr>
          <a:xfrm>
            <a:off x="1778000" y="30734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000" b="1">
                <a:solidFill>
                  <a:srgbClr val="0F4C5C"/>
                </a:solidFill>
                <a:latin typeface="Playfair Display"/>
              </a:rPr>
              <a:t>Salud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4F12D55-2A2C-4071-BF7F-F656C84DD572}"/>
              </a:ext>
            </a:extLst>
          </p:cNvPr>
          <p:cNvSpPr txBox="1"/>
          <p:nvPr/>
        </p:nvSpPr>
        <p:spPr>
          <a:xfrm>
            <a:off x="1778000" y="3505200"/>
            <a:ext cx="3810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Diagnóstico temprano por imagen, descubrimiento de fármacos y personalización de tratamientos.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C496777-F5DA-4380-A949-C9ABFEDFD2EE}"/>
              </a:ext>
            </a:extLst>
          </p:cNvPr>
          <p:cNvSpPr/>
          <p:nvPr/>
        </p:nvSpPr>
        <p:spPr>
          <a:xfrm>
            <a:off x="6350000" y="2794000"/>
            <a:ext cx="5080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D960ED7-F9E7-4476-9AB6-C78688EC7DFA}"/>
              </a:ext>
            </a:extLst>
          </p:cNvPr>
          <p:cNvSpPr/>
          <p:nvPr/>
        </p:nvSpPr>
        <p:spPr>
          <a:xfrm>
            <a:off x="6350000" y="2794000"/>
            <a:ext cx="76200" cy="17780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76AA529-059D-4C19-BB45-ED29B658295A}"/>
              </a:ext>
            </a:extLst>
          </p:cNvPr>
          <p:cNvSpPr/>
          <p:nvPr/>
        </p:nvSpPr>
        <p:spPr>
          <a:xfrm>
            <a:off x="6654800" y="3073400"/>
            <a:ext cx="508000" cy="508000"/>
          </a:xfrm>
          <a:prstGeom prst="ellips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D0D7E9-E9D7-4CB1-ADE4-F4278B3B3257}"/>
              </a:ext>
            </a:extLst>
          </p:cNvPr>
          <p:cNvSpPr txBox="1"/>
          <p:nvPr/>
        </p:nvSpPr>
        <p:spPr>
          <a:xfrm>
            <a:off x="7366000" y="30734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000" b="1">
                <a:solidFill>
                  <a:srgbClr val="0F4C5C"/>
                </a:solidFill>
                <a:latin typeface="Playfair Display"/>
              </a:rPr>
              <a:t>Educación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BB28DF1-1151-41BA-834C-98E360181270}"/>
              </a:ext>
            </a:extLst>
          </p:cNvPr>
          <p:cNvSpPr txBox="1"/>
          <p:nvPr/>
        </p:nvSpPr>
        <p:spPr>
          <a:xfrm>
            <a:off x="7366000" y="3505200"/>
            <a:ext cx="3810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Tutores adaptativos que ajustan el ritmo al estudiante y amplían el acceso a formación.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3227CFB-1182-4461-8D5A-587D7F9C9698}"/>
              </a:ext>
            </a:extLst>
          </p:cNvPr>
          <p:cNvSpPr/>
          <p:nvPr/>
        </p:nvSpPr>
        <p:spPr>
          <a:xfrm>
            <a:off x="762000" y="4826000"/>
            <a:ext cx="5080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68ED816-F330-413B-B47D-37ED74A13070}"/>
              </a:ext>
            </a:extLst>
          </p:cNvPr>
          <p:cNvSpPr/>
          <p:nvPr/>
        </p:nvSpPr>
        <p:spPr>
          <a:xfrm>
            <a:off x="762000" y="4826000"/>
            <a:ext cx="76200" cy="1778000"/>
          </a:xfrm>
          <a:prstGeom prst="rect">
            <a:avLst/>
          </a:prstGeom>
          <a:solidFill>
            <a:srgbClr val="D4A3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95B592E-ED23-4BE6-B1B8-AC44218B3207}"/>
              </a:ext>
            </a:extLst>
          </p:cNvPr>
          <p:cNvSpPr/>
          <p:nvPr/>
        </p:nvSpPr>
        <p:spPr>
          <a:xfrm>
            <a:off x="1066800" y="5105400"/>
            <a:ext cx="508000" cy="508000"/>
          </a:xfrm>
          <a:prstGeom prst="ellipse">
            <a:avLst/>
          </a:prstGeom>
          <a:solidFill>
            <a:srgbClr val="D4A3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556417B-68CC-41E8-B05D-EF2FB41D4E25}"/>
              </a:ext>
            </a:extLst>
          </p:cNvPr>
          <p:cNvSpPr txBox="1"/>
          <p:nvPr/>
        </p:nvSpPr>
        <p:spPr>
          <a:xfrm>
            <a:off x="1778000" y="51054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000" b="1">
                <a:solidFill>
                  <a:srgbClr val="0F4C5C"/>
                </a:solidFill>
                <a:latin typeface="Playfair Display"/>
              </a:rPr>
              <a:t>Productividad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4AF0558-4911-41DF-8A6D-F448D61AB004}"/>
              </a:ext>
            </a:extLst>
          </p:cNvPr>
          <p:cNvSpPr txBox="1"/>
          <p:nvPr/>
        </p:nvSpPr>
        <p:spPr>
          <a:xfrm>
            <a:off x="1778000" y="5537200"/>
            <a:ext cx="3810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Automatización de tareas repetitivas para liberar tiempo de trabajo creativo y estratégico.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007682E-65A0-4158-8B57-DA8CF5D3C594}"/>
              </a:ext>
            </a:extLst>
          </p:cNvPr>
          <p:cNvSpPr/>
          <p:nvPr/>
        </p:nvSpPr>
        <p:spPr>
          <a:xfrm>
            <a:off x="6350000" y="4826000"/>
            <a:ext cx="5080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4792C84-4FB0-4442-AB7C-0F8575CEE718}"/>
              </a:ext>
            </a:extLst>
          </p:cNvPr>
          <p:cNvSpPr/>
          <p:nvPr/>
        </p:nvSpPr>
        <p:spPr>
          <a:xfrm>
            <a:off x="6350000" y="4826000"/>
            <a:ext cx="76200" cy="1778000"/>
          </a:xfrm>
          <a:prstGeom prst="rect">
            <a:avLst/>
          </a:prstGeom>
          <a:solidFill>
            <a:srgbClr val="5C837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2249833-42D9-4723-AA2E-B379B3BB9027}"/>
              </a:ext>
            </a:extLst>
          </p:cNvPr>
          <p:cNvSpPr/>
          <p:nvPr/>
        </p:nvSpPr>
        <p:spPr>
          <a:xfrm>
            <a:off x="6654800" y="5105400"/>
            <a:ext cx="508000" cy="508000"/>
          </a:xfrm>
          <a:prstGeom prst="ellipse">
            <a:avLst/>
          </a:prstGeom>
          <a:solidFill>
            <a:srgbClr val="5C837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b="1">
                <a:solidFill>
                  <a:srgbClr val="FFFFFF"/>
                </a:solidFill>
              </a:rPr>
              <a:t>▲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71CE8DC-D4E9-47A7-8D40-D1E713DD1D2D}"/>
              </a:ext>
            </a:extLst>
          </p:cNvPr>
          <p:cNvSpPr txBox="1"/>
          <p:nvPr/>
        </p:nvSpPr>
        <p:spPr>
          <a:xfrm>
            <a:off x="7366000" y="51054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000" b="1">
                <a:solidFill>
                  <a:srgbClr val="0F4C5C"/>
                </a:solidFill>
                <a:latin typeface="Playfair Display"/>
              </a:rPr>
              <a:t>Ciencia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AE44F9D-4EB2-43FC-A8F9-3438A6EA25C9}"/>
              </a:ext>
            </a:extLst>
          </p:cNvPr>
          <p:cNvSpPr txBox="1"/>
          <p:nvPr/>
        </p:nvSpPr>
        <p:spPr>
          <a:xfrm>
            <a:off x="7366000" y="5537200"/>
            <a:ext cx="3810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Análisis de grandes volúmenes de datos para acelerar investigación climática, genómica y espacial.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67676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DE3C4C-7F18-4573-B9DE-47937575F2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A29EBF-FC02-4AAC-8F43-1E74D0E3C62B}"/>
              </a:ext>
            </a:extLst>
          </p:cNvPr>
          <p:cNvSpPr txBox="1"/>
          <p:nvPr/>
        </p:nvSpPr>
        <p:spPr>
          <a:xfrm>
            <a:off x="762000" y="635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D4A373"/>
                </a:solidFill>
                <a:latin typeface="Inter"/>
              </a:rPr>
              <a:t>03  /  AGENTES DE 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6CB1BA-4ABC-4986-BC7E-9F56F948D0A5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3600" b="1">
                <a:solidFill>
                  <a:srgbClr val="F5EFE6"/>
                </a:solidFill>
                <a:latin typeface="Playfair Display"/>
              </a:rPr>
              <a:t>Riesgos y consecuencias inesperadas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EB29A4-6307-4EA2-A164-6BF2B07684AA}"/>
              </a:ext>
            </a:extLst>
          </p:cNvPr>
          <p:cNvSpPr/>
          <p:nvPr/>
        </p:nvSpPr>
        <p:spPr>
          <a:xfrm>
            <a:off x="762000" y="1905000"/>
            <a:ext cx="762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10DCE20E-D685-4225-AE64-ABDFC6605AA2}"/>
              </a:ext>
            </a:extLst>
          </p:cNvPr>
          <p:cNvSpPr/>
          <p:nvPr/>
        </p:nvSpPr>
        <p:spPr>
          <a:xfrm>
            <a:off x="762000" y="2286000"/>
            <a:ext cx="304800" cy="304800"/>
          </a:xfrm>
          <a:prstGeom prst="triangl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87C4ED-2884-43D0-BDF7-3384A745AA1D}"/>
              </a:ext>
            </a:extLst>
          </p:cNvPr>
          <p:cNvSpPr txBox="1"/>
          <p:nvPr/>
        </p:nvSpPr>
        <p:spPr>
          <a:xfrm>
            <a:off x="1270000" y="22606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700" b="1">
                <a:solidFill>
                  <a:srgbClr val="F5EFE6"/>
                </a:solidFill>
                <a:latin typeface="Inter"/>
              </a:rPr>
              <a:t>Autonomía sin supervisión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61B6B50-BDD2-4B4A-A256-2C4907BBBE40}"/>
              </a:ext>
            </a:extLst>
          </p:cNvPr>
          <p:cNvSpPr txBox="1"/>
          <p:nvPr/>
        </p:nvSpPr>
        <p:spPr>
          <a:xfrm>
            <a:off x="5334000" y="2260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E8DFD0"/>
                </a:solidFill>
                <a:latin typeface="Inter"/>
              </a:rPr>
              <a:t>Decisiones críticas delegadas a sistemas sin mecanismos de intervención humana.</a:t>
            </a:r>
            <a:endParaRPr lang="es-EC" sz="14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DFD83B02-5923-4729-9CFC-B52E4593FB6D}"/>
              </a:ext>
            </a:extLst>
          </p:cNvPr>
          <p:cNvSpPr/>
          <p:nvPr/>
        </p:nvSpPr>
        <p:spPr>
          <a:xfrm>
            <a:off x="762000" y="3175000"/>
            <a:ext cx="304800" cy="304800"/>
          </a:xfrm>
          <a:prstGeom prst="triangl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F661382-FCA6-488E-A338-0F4357E12E9D}"/>
              </a:ext>
            </a:extLst>
          </p:cNvPr>
          <p:cNvSpPr txBox="1"/>
          <p:nvPr/>
        </p:nvSpPr>
        <p:spPr>
          <a:xfrm>
            <a:off x="1270000" y="31496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700" b="1">
                <a:solidFill>
                  <a:srgbClr val="F5EFE6"/>
                </a:solidFill>
                <a:latin typeface="Inter"/>
              </a:rPr>
              <a:t>Errores a escala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A53564-521C-4F5B-BAE0-E10A74532E03}"/>
              </a:ext>
            </a:extLst>
          </p:cNvPr>
          <p:cNvSpPr txBox="1"/>
          <p:nvPr/>
        </p:nvSpPr>
        <p:spPr>
          <a:xfrm>
            <a:off x="5334000" y="3149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E8DFD0"/>
                </a:solidFill>
                <a:latin typeface="Inter"/>
              </a:rPr>
              <a:t>Un modelo con fallos se replica en millones de decisiones antes de que se detecte el problema.</a:t>
            </a:r>
            <a:endParaRPr lang="es-EC" sz="14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69EFFF56-3995-4892-B7FC-57E964CAB212}"/>
              </a:ext>
            </a:extLst>
          </p:cNvPr>
          <p:cNvSpPr/>
          <p:nvPr/>
        </p:nvSpPr>
        <p:spPr>
          <a:xfrm>
            <a:off x="762000" y="4064000"/>
            <a:ext cx="304800" cy="304800"/>
          </a:xfrm>
          <a:prstGeom prst="triangl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02F05F9-AF63-4A11-93F0-30F4170A862D}"/>
              </a:ext>
            </a:extLst>
          </p:cNvPr>
          <p:cNvSpPr txBox="1"/>
          <p:nvPr/>
        </p:nvSpPr>
        <p:spPr>
          <a:xfrm>
            <a:off x="1270000" y="40386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700" b="1">
                <a:solidFill>
                  <a:srgbClr val="F5EFE6"/>
                </a:solidFill>
                <a:latin typeface="Inter"/>
              </a:rPr>
              <a:t>Uso malicioso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4E75D5F-31C6-443F-A55C-628922932005}"/>
              </a:ext>
            </a:extLst>
          </p:cNvPr>
          <p:cNvSpPr txBox="1"/>
          <p:nvPr/>
        </p:nvSpPr>
        <p:spPr>
          <a:xfrm>
            <a:off x="5334000" y="4038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E8DFD0"/>
                </a:solidFill>
                <a:latin typeface="Inter"/>
              </a:rPr>
              <a:t>Deepfakes, desinformación coordinada, ciberataques automatizados y armas autónomas.</a:t>
            </a:r>
            <a:endParaRPr lang="es-EC" sz="14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70C351E9-D7BA-4066-9357-EBA68A29C4E9}"/>
              </a:ext>
            </a:extLst>
          </p:cNvPr>
          <p:cNvSpPr/>
          <p:nvPr/>
        </p:nvSpPr>
        <p:spPr>
          <a:xfrm>
            <a:off x="762000" y="4953000"/>
            <a:ext cx="304800" cy="304800"/>
          </a:xfrm>
          <a:prstGeom prst="triangl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6566D2D-EA97-4045-9EFD-DB897E05C119}"/>
              </a:ext>
            </a:extLst>
          </p:cNvPr>
          <p:cNvSpPr txBox="1"/>
          <p:nvPr/>
        </p:nvSpPr>
        <p:spPr>
          <a:xfrm>
            <a:off x="1270000" y="49276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700" b="1">
                <a:solidFill>
                  <a:srgbClr val="F5EFE6"/>
                </a:solidFill>
                <a:latin typeface="Inter"/>
              </a:rPr>
              <a:t>Concentración de poder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718259C-0BDE-463A-865F-F7D718166516}"/>
              </a:ext>
            </a:extLst>
          </p:cNvPr>
          <p:cNvSpPr txBox="1"/>
          <p:nvPr/>
        </p:nvSpPr>
        <p:spPr>
          <a:xfrm>
            <a:off x="5334000" y="4927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E8DFD0"/>
                </a:solidFill>
                <a:latin typeface="Inter"/>
              </a:rPr>
              <a:t>Pocas compañías controlan modelos fundacionales, datos y cómputo a escala global.</a:t>
            </a:r>
            <a:endParaRPr lang="es-EC" sz="14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ED2CA621-BBB0-4709-926E-91C94A2055FE}"/>
              </a:ext>
            </a:extLst>
          </p:cNvPr>
          <p:cNvSpPr/>
          <p:nvPr/>
        </p:nvSpPr>
        <p:spPr>
          <a:xfrm>
            <a:off x="762000" y="5842000"/>
            <a:ext cx="304800" cy="304800"/>
          </a:xfrm>
          <a:prstGeom prst="triangl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603EF86-3B82-44CF-A7E1-3D6D9FB2DC2D}"/>
              </a:ext>
            </a:extLst>
          </p:cNvPr>
          <p:cNvSpPr txBox="1"/>
          <p:nvPr/>
        </p:nvSpPr>
        <p:spPr>
          <a:xfrm>
            <a:off x="1270000" y="58166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700" b="1">
                <a:solidFill>
                  <a:srgbClr val="F5EFE6"/>
                </a:solidFill>
                <a:latin typeface="Inter"/>
              </a:rPr>
              <a:t>Pérdida de habilidades humanas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F22A7B3-DC64-4009-9EBF-C0FAE7058054}"/>
              </a:ext>
            </a:extLst>
          </p:cNvPr>
          <p:cNvSpPr txBox="1"/>
          <p:nvPr/>
        </p:nvSpPr>
        <p:spPr>
          <a:xfrm>
            <a:off x="5334000" y="58166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E8DFD0"/>
                </a:solidFill>
                <a:latin typeface="Inter"/>
              </a:rPr>
              <a:t>Dependencia excesiva erosiona juicio crítico, criterio profesional y pensamiento autónomo.</a:t>
            </a:r>
            <a:endParaRPr lang="es-EC" sz="1400">
              <a:solidFill>
                <a:srgbClr val="E8DFD0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1644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48B1524-42FB-4C25-A789-97FF34FE36ED}"/>
              </a:ext>
            </a:extLst>
          </p:cNvPr>
          <p:cNvSpPr txBox="1"/>
          <p:nvPr/>
        </p:nvSpPr>
        <p:spPr>
          <a:xfrm>
            <a:off x="762000" y="635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C84B31"/>
                </a:solidFill>
                <a:latin typeface="Inter"/>
              </a:rPr>
              <a:t>04  /  IMPACTO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08278A-4722-43F3-873A-49A77EF71A63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3600" b="1">
                <a:solidFill>
                  <a:srgbClr val="0F4C5C"/>
                </a:solidFill>
                <a:latin typeface="Playfair Display"/>
              </a:rPr>
              <a:t>Impacto social y económico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DC7826-F143-46C4-A4EF-094FE20CA4B7}"/>
              </a:ext>
            </a:extLst>
          </p:cNvPr>
          <p:cNvSpPr/>
          <p:nvPr/>
        </p:nvSpPr>
        <p:spPr>
          <a:xfrm>
            <a:off x="762000" y="1905000"/>
            <a:ext cx="762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A254E4-E7BF-43FE-8DAA-3E908D7AC39D}"/>
              </a:ext>
            </a:extLst>
          </p:cNvPr>
          <p:cNvSpPr txBox="1"/>
          <p:nvPr/>
        </p:nvSpPr>
        <p:spPr>
          <a:xfrm>
            <a:off x="762000" y="2286000"/>
            <a:ext cx="101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4800" b="1">
                <a:solidFill>
                  <a:srgbClr val="0F4C5C"/>
                </a:solidFill>
                <a:latin typeface="Playfair Display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F6E495D-A91A-4500-9B27-8EC58785ECD2}"/>
              </a:ext>
            </a:extLst>
          </p:cNvPr>
          <p:cNvSpPr/>
          <p:nvPr/>
        </p:nvSpPr>
        <p:spPr>
          <a:xfrm>
            <a:off x="762000" y="3149600"/>
            <a:ext cx="508000" cy="38100"/>
          </a:xfrm>
          <a:prstGeom prst="rect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3F8CC27-7B6D-41E9-AB29-35BD4EECB51E}"/>
              </a:ext>
            </a:extLst>
          </p:cNvPr>
          <p:cNvSpPr txBox="1"/>
          <p:nvPr/>
        </p:nvSpPr>
        <p:spPr>
          <a:xfrm>
            <a:off x="762000" y="33020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000" b="1">
                <a:solidFill>
                  <a:srgbClr val="0F4C5C"/>
                </a:solidFill>
                <a:latin typeface="Playfair Display"/>
              </a:rPr>
              <a:t>Automatización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5AD918-D989-4519-997E-B22A079C8375}"/>
              </a:ext>
            </a:extLst>
          </p:cNvPr>
          <p:cNvSpPr txBox="1"/>
          <p:nvPr/>
        </p:nvSpPr>
        <p:spPr>
          <a:xfrm>
            <a:off x="762000" y="3873500"/>
            <a:ext cx="3429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•  Tareas rutinarias y repetitivas sustituidas por agentes
•  Mayor productividad en manufactura, logística y servicios
•  Reducción de costos operativos para las empresas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67E603A-4EF8-4A16-AF9D-0B2CBCF281B9}"/>
              </a:ext>
            </a:extLst>
          </p:cNvPr>
          <p:cNvSpPr txBox="1"/>
          <p:nvPr/>
        </p:nvSpPr>
        <p:spPr>
          <a:xfrm>
            <a:off x="4572000" y="2286000"/>
            <a:ext cx="101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4800" b="1">
                <a:solidFill>
                  <a:srgbClr val="C84B31"/>
                </a:solidFill>
                <a:latin typeface="Playfair Display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E1EA60-5FAF-48E4-A15F-BDDB5D7574D2}"/>
              </a:ext>
            </a:extLst>
          </p:cNvPr>
          <p:cNvSpPr/>
          <p:nvPr/>
        </p:nvSpPr>
        <p:spPr>
          <a:xfrm>
            <a:off x="4572000" y="3149600"/>
            <a:ext cx="508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CAE5B59-6A96-4BE4-8270-0108D6EC8D39}"/>
              </a:ext>
            </a:extLst>
          </p:cNvPr>
          <p:cNvSpPr txBox="1"/>
          <p:nvPr/>
        </p:nvSpPr>
        <p:spPr>
          <a:xfrm>
            <a:off x="4572000" y="33020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000" b="1">
                <a:solidFill>
                  <a:srgbClr val="0F4C5C"/>
                </a:solidFill>
                <a:latin typeface="Playfair Display"/>
              </a:rPr>
              <a:t>Desplazamiento laboral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34ECDB9-3CA3-4D4F-B4D1-B3D63077B285}"/>
              </a:ext>
            </a:extLst>
          </p:cNvPr>
          <p:cNvSpPr txBox="1"/>
          <p:nvPr/>
        </p:nvSpPr>
        <p:spPr>
          <a:xfrm>
            <a:off x="4572000" y="3873500"/>
            <a:ext cx="3429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•  OIT estima 40% de empleos transformados
•  Trabajos administrativos y de oficina más expuestos
•  Necesidad urgente de reconversión y formación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E843DC1-09C8-4E63-AF1B-CC28886EB4F8}"/>
              </a:ext>
            </a:extLst>
          </p:cNvPr>
          <p:cNvSpPr txBox="1"/>
          <p:nvPr/>
        </p:nvSpPr>
        <p:spPr>
          <a:xfrm>
            <a:off x="8382000" y="2286000"/>
            <a:ext cx="101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4800" b="1">
                <a:solidFill>
                  <a:srgbClr val="D4A373"/>
                </a:solidFill>
                <a:latin typeface="Playfair Display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588E1E6-1EC9-4B24-B7D3-8A97A8E45511}"/>
              </a:ext>
            </a:extLst>
          </p:cNvPr>
          <p:cNvSpPr/>
          <p:nvPr/>
        </p:nvSpPr>
        <p:spPr>
          <a:xfrm>
            <a:off x="8382000" y="3149600"/>
            <a:ext cx="508000" cy="38100"/>
          </a:xfrm>
          <a:prstGeom prst="rect">
            <a:avLst/>
          </a:prstGeom>
          <a:solidFill>
            <a:srgbClr val="D4A3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9285562-306C-4E8F-98FB-CA1C495B521F}"/>
              </a:ext>
            </a:extLst>
          </p:cNvPr>
          <p:cNvSpPr txBox="1"/>
          <p:nvPr/>
        </p:nvSpPr>
        <p:spPr>
          <a:xfrm>
            <a:off x="8382000" y="33020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000" b="1">
                <a:solidFill>
                  <a:srgbClr val="0F4C5C"/>
                </a:solidFill>
                <a:latin typeface="Playfair Display"/>
              </a:rPr>
              <a:t>Decisiones asistidas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530B31B-C65B-43D5-9025-CEAEC2178858}"/>
              </a:ext>
            </a:extLst>
          </p:cNvPr>
          <p:cNvSpPr txBox="1"/>
          <p:nvPr/>
        </p:nvSpPr>
        <p:spPr>
          <a:xfrm>
            <a:off x="8382000" y="3873500"/>
            <a:ext cx="3429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>
                <a:solidFill>
                  <a:srgbClr val="1A2B2E"/>
                </a:solidFill>
                <a:latin typeface="Inter"/>
              </a:rPr>
              <a:t>•  Bancos, aseguradoras y tribunales usan IA
•  Dilema: eficiencia vs. juicio humano
•  Riesgo de automatizar sesgos históricos</a:t>
            </a:r>
          </a:p>
        </p:txBody>
      </p:sp>
    </p:spTree>
    <p:extLst>
      <p:ext uri="{BB962C8B-B14F-4D97-AF65-F5344CB8AC3E}">
        <p14:creationId xmlns:p14="http://schemas.microsoft.com/office/powerpoint/2010/main" val="426074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01DB7A-9534-44C6-8D89-68EA8C291722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F8656E-0263-440E-9247-D7AC905BED58}"/>
              </a:ext>
            </a:extLst>
          </p:cNvPr>
          <p:cNvSpPr txBox="1"/>
          <p:nvPr/>
        </p:nvSpPr>
        <p:spPr>
          <a:xfrm>
            <a:off x="508000" y="1016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300" b="1">
                <a:solidFill>
                  <a:srgbClr val="F5EFE6"/>
                </a:solidFill>
                <a:latin typeface="Inter"/>
              </a:rPr>
              <a:t>05  /  FOCO REGIONAL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FB62878-1D2D-4745-A3D9-EB525686726F}"/>
              </a:ext>
            </a:extLst>
          </p:cNvPr>
          <p:cNvSpPr txBox="1"/>
          <p:nvPr/>
        </p:nvSpPr>
        <p:spPr>
          <a:xfrm>
            <a:off x="508000" y="1524000"/>
            <a:ext cx="3302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3000" b="1">
                <a:solidFill>
                  <a:srgbClr val="F5EFE6"/>
                </a:solidFill>
                <a:latin typeface="Playfair Display"/>
              </a:rPr>
              <a:t>Latinoamérica frente a la 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F77311-A0E3-4403-9216-49CC1E49F931}"/>
              </a:ext>
            </a:extLst>
          </p:cNvPr>
          <p:cNvSpPr txBox="1"/>
          <p:nvPr/>
        </p:nvSpPr>
        <p:spPr>
          <a:xfrm>
            <a:off x="508000" y="38735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i="1">
                <a:solidFill>
                  <a:srgbClr val="F5EFE6"/>
                </a:solidFill>
                <a:latin typeface="Inter"/>
              </a:rPr>
              <a:t>Oportunidades y brechas específicas de la región</a:t>
            </a:r>
            <a:endParaRPr lang="es-EC" sz="1400" i="1">
              <a:solidFill>
                <a:srgbClr val="F5EFE6"/>
              </a:solidFill>
              <a:latin typeface="Inter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D76E760-79E0-48BE-9D3A-1C4656939CEA}"/>
              </a:ext>
            </a:extLst>
          </p:cNvPr>
          <p:cNvSpPr/>
          <p:nvPr/>
        </p:nvSpPr>
        <p:spPr>
          <a:xfrm>
            <a:off x="508000" y="5969000"/>
            <a:ext cx="127000" cy="127000"/>
          </a:xfrm>
          <a:prstGeom prst="ellipse">
            <a:avLst/>
          </a:prstGeom>
          <a:solidFill>
            <a:srgbClr val="D4A3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0093D7-3727-4C20-89B0-85588465437D}"/>
              </a:ext>
            </a:extLst>
          </p:cNvPr>
          <p:cNvSpPr/>
          <p:nvPr/>
        </p:nvSpPr>
        <p:spPr>
          <a:xfrm>
            <a:off x="736600" y="6019800"/>
            <a:ext cx="762000" cy="25400"/>
          </a:xfrm>
          <a:prstGeom prst="rect">
            <a:avLst/>
          </a:prstGeom>
          <a:solidFill>
            <a:srgbClr val="F5EFE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472DE6D-6D16-463B-8F03-BACD8784EBCC}"/>
              </a:ext>
            </a:extLst>
          </p:cNvPr>
          <p:cNvSpPr/>
          <p:nvPr/>
        </p:nvSpPr>
        <p:spPr>
          <a:xfrm>
            <a:off x="4572000" y="838200"/>
            <a:ext cx="254000" cy="254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047C9D-7AEF-44EA-97CC-7E9AD6FA6BF2}"/>
              </a:ext>
            </a:extLst>
          </p:cNvPr>
          <p:cNvSpPr txBox="1"/>
          <p:nvPr/>
        </p:nvSpPr>
        <p:spPr>
          <a:xfrm>
            <a:off x="5016500" y="6604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900" b="1">
                <a:solidFill>
                  <a:srgbClr val="0F4C5C"/>
                </a:solidFill>
                <a:latin typeface="Playfair Display"/>
              </a:rPr>
              <a:t>Call centers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EC03221-5349-4612-B425-EB4902E4BA96}"/>
              </a:ext>
            </a:extLst>
          </p:cNvPr>
          <p:cNvSpPr txBox="1"/>
          <p:nvPr/>
        </p:nvSpPr>
        <p:spPr>
          <a:xfrm>
            <a:off x="5016500" y="1041400"/>
            <a:ext cx="635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México, Colombia y Argentina concentran centros de servicio al cliente. La IA conversacional amenaza ~30% de estos empleos.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E69707E-30A3-4191-B87B-7965A235CDED}"/>
              </a:ext>
            </a:extLst>
          </p:cNvPr>
          <p:cNvSpPr/>
          <p:nvPr/>
        </p:nvSpPr>
        <p:spPr>
          <a:xfrm>
            <a:off x="4572000" y="2298700"/>
            <a:ext cx="254000" cy="254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7F3046-8DF1-4D25-A3AA-36EF0E93A6D7}"/>
              </a:ext>
            </a:extLst>
          </p:cNvPr>
          <p:cNvSpPr txBox="1"/>
          <p:nvPr/>
        </p:nvSpPr>
        <p:spPr>
          <a:xfrm>
            <a:off x="5016500" y="21209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900" b="1">
                <a:solidFill>
                  <a:srgbClr val="0F4C5C"/>
                </a:solidFill>
                <a:latin typeface="Playfair Display"/>
              </a:rPr>
              <a:t>Logística y última milla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62C8FEC-5FB7-4934-85F3-707FDDC8E324}"/>
              </a:ext>
            </a:extLst>
          </p:cNvPr>
          <p:cNvSpPr txBox="1"/>
          <p:nvPr/>
        </p:nvSpPr>
        <p:spPr>
          <a:xfrm>
            <a:off x="5016500" y="2501900"/>
            <a:ext cx="635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Optimización de rutas, almacenes automatizados y predicción de demanda transforman el empleo operativo regional.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A659F29-3A8B-451B-AC81-895B027EDDF9}"/>
              </a:ext>
            </a:extLst>
          </p:cNvPr>
          <p:cNvSpPr/>
          <p:nvPr/>
        </p:nvSpPr>
        <p:spPr>
          <a:xfrm>
            <a:off x="4572000" y="3759200"/>
            <a:ext cx="254000" cy="254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83DFFCB-4B58-4ECB-B1C0-952A5AEBE6F1}"/>
              </a:ext>
            </a:extLst>
          </p:cNvPr>
          <p:cNvSpPr txBox="1"/>
          <p:nvPr/>
        </p:nvSpPr>
        <p:spPr>
          <a:xfrm>
            <a:off x="5016500" y="35814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900" b="1">
                <a:solidFill>
                  <a:srgbClr val="0F4C5C"/>
                </a:solidFill>
                <a:latin typeface="Playfair Display"/>
              </a:rPr>
              <a:t>Banca y fintech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4F3165F-823C-4DFB-A80E-1EDD2EC0B356}"/>
              </a:ext>
            </a:extLst>
          </p:cNvPr>
          <p:cNvSpPr txBox="1"/>
          <p:nvPr/>
        </p:nvSpPr>
        <p:spPr>
          <a:xfrm>
            <a:off x="5016500" y="3962400"/>
            <a:ext cx="635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Scoring crediticio algorítmico amplía inclusión financiera pero puede perpetuar sesgos socioeconómicos y geográficos.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7D037D6-0211-493A-870F-FFE61897B368}"/>
              </a:ext>
            </a:extLst>
          </p:cNvPr>
          <p:cNvSpPr/>
          <p:nvPr/>
        </p:nvSpPr>
        <p:spPr>
          <a:xfrm>
            <a:off x="4572000" y="5219700"/>
            <a:ext cx="254000" cy="254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9A2606E-159D-4F90-B058-2A857D7DC51D}"/>
              </a:ext>
            </a:extLst>
          </p:cNvPr>
          <p:cNvSpPr txBox="1"/>
          <p:nvPr/>
        </p:nvSpPr>
        <p:spPr>
          <a:xfrm>
            <a:off x="5016500" y="50419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900" b="1">
                <a:solidFill>
                  <a:srgbClr val="0F4C5C"/>
                </a:solidFill>
                <a:latin typeface="Playfair Display"/>
              </a:rPr>
              <a:t>Brecha estructural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34B08F1-C67D-486F-9195-A2651B09ED91}"/>
              </a:ext>
            </a:extLst>
          </p:cNvPr>
          <p:cNvSpPr txBox="1"/>
          <p:nvPr/>
        </p:nvSpPr>
        <p:spPr>
          <a:xfrm>
            <a:off x="5016500" y="5422900"/>
            <a:ext cx="635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1A2B2E"/>
                </a:solidFill>
                <a:latin typeface="Inter"/>
              </a:rPr>
              <a:t>Infraestructura de cómputo limitada, fuga de talento y escasos datos en español/portugués agravan la dependencia tecnológica.</a:t>
            </a:r>
            <a:endParaRPr lang="es-EC" sz="1400">
              <a:solidFill>
                <a:srgbClr val="1A2B2E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6525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5099705-0805-4384-BFE4-2038796212F1}"/>
              </a:ext>
            </a:extLst>
          </p:cNvPr>
          <p:cNvSpPr txBox="1"/>
          <p:nvPr/>
        </p:nvSpPr>
        <p:spPr>
          <a:xfrm>
            <a:off x="762000" y="635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C84B31"/>
                </a:solidFill>
                <a:latin typeface="Inter"/>
              </a:rPr>
              <a:t>06  /  EQUIDAD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FD2253-488F-4AF3-B8A7-2779224D9FCD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3600" b="1">
                <a:solidFill>
                  <a:srgbClr val="0F4C5C"/>
                </a:solidFill>
                <a:latin typeface="Playfair Display"/>
              </a:rPr>
              <a:t>Sesgos en modelos de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81482A5-3FB1-4E26-BE0D-701AA921A2AC}"/>
              </a:ext>
            </a:extLst>
          </p:cNvPr>
          <p:cNvSpPr/>
          <p:nvPr/>
        </p:nvSpPr>
        <p:spPr>
          <a:xfrm>
            <a:off x="762000" y="1905000"/>
            <a:ext cx="762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38F3B1F-B229-4AA9-9B1E-E7350517A35C}"/>
              </a:ext>
            </a:extLst>
          </p:cNvPr>
          <p:cNvSpPr/>
          <p:nvPr/>
        </p:nvSpPr>
        <p:spPr>
          <a:xfrm>
            <a:off x="762000" y="2286000"/>
            <a:ext cx="3302000" cy="406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353A36-3391-49B7-953D-1C06D7ADE1C5}"/>
              </a:ext>
            </a:extLst>
          </p:cNvPr>
          <p:cNvSpPr/>
          <p:nvPr/>
        </p:nvSpPr>
        <p:spPr>
          <a:xfrm>
            <a:off x="762000" y="2286000"/>
            <a:ext cx="3302000" cy="635000"/>
          </a:xfrm>
          <a:prstGeom prst="rect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27B7A7B-2E45-42DE-B1F0-357A40E34DDE}"/>
              </a:ext>
            </a:extLst>
          </p:cNvPr>
          <p:cNvSpPr txBox="1"/>
          <p:nvPr/>
        </p:nvSpPr>
        <p:spPr>
          <a:xfrm>
            <a:off x="1016000" y="2387600"/>
            <a:ext cx="2794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200" b="1">
                <a:solidFill>
                  <a:srgbClr val="FFFFFF"/>
                </a:solidFill>
                <a:latin typeface="Playfair Display"/>
              </a:rPr>
              <a:t>Origen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F5A412-9AD6-4DA1-A0EB-B2E9CF88C8EA}"/>
              </a:ext>
            </a:extLst>
          </p:cNvPr>
          <p:cNvSpPr txBox="1"/>
          <p:nvPr/>
        </p:nvSpPr>
        <p:spPr>
          <a:xfrm>
            <a:off x="1016000" y="3175000"/>
            <a:ext cx="2794000" cy="304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• Datos históricos desbalanceados
• Subrepresentación de grupos
• Supuestos del equipo de diseño
• Proxies correlacionados con variables sensibles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9E1B0259-D66A-4406-8DE1-5D0B4B7D8145}"/>
              </a:ext>
            </a:extLst>
          </p:cNvPr>
          <p:cNvSpPr/>
          <p:nvPr/>
        </p:nvSpPr>
        <p:spPr>
          <a:xfrm>
            <a:off x="4089400" y="4127500"/>
            <a:ext cx="228600" cy="381000"/>
          </a:xfrm>
          <a:prstGeom prst="rightArrow">
            <a:avLst/>
          </a:prstGeom>
          <a:solidFill>
            <a:srgbClr val="D4A3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202B5EC-D1B9-4B8D-91AA-B408831532EE}"/>
              </a:ext>
            </a:extLst>
          </p:cNvPr>
          <p:cNvSpPr/>
          <p:nvPr/>
        </p:nvSpPr>
        <p:spPr>
          <a:xfrm>
            <a:off x="4318000" y="2286000"/>
            <a:ext cx="3302000" cy="406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EF6BF81-F785-402A-912C-9AED8E6315C6}"/>
              </a:ext>
            </a:extLst>
          </p:cNvPr>
          <p:cNvSpPr/>
          <p:nvPr/>
        </p:nvSpPr>
        <p:spPr>
          <a:xfrm>
            <a:off x="4318000" y="2286000"/>
            <a:ext cx="3302000" cy="6350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44F656-D996-414D-BF17-1429C8509C0D}"/>
              </a:ext>
            </a:extLst>
          </p:cNvPr>
          <p:cNvSpPr txBox="1"/>
          <p:nvPr/>
        </p:nvSpPr>
        <p:spPr>
          <a:xfrm>
            <a:off x="4572000" y="2387600"/>
            <a:ext cx="2794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200" b="1">
                <a:solidFill>
                  <a:srgbClr val="FFFFFF"/>
                </a:solidFill>
                <a:latin typeface="Playfair Display"/>
              </a:rPr>
              <a:t>Efectos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4D9E519-9061-45FE-A3C4-D0A696F6E60D}"/>
              </a:ext>
            </a:extLst>
          </p:cNvPr>
          <p:cNvSpPr txBox="1"/>
          <p:nvPr/>
        </p:nvSpPr>
        <p:spPr>
          <a:xfrm>
            <a:off x="4572000" y="3175000"/>
            <a:ext cx="2794000" cy="304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• Discriminación en contratación, crédito y justicia
• Amazon descartó CVs de mujeres
• COMPAS: sesgo racial en reincidencia
• Reconocimiento facial falla en pieles oscuras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529D3D71-5D12-43CC-9E3A-AD06AA25D11C}"/>
              </a:ext>
            </a:extLst>
          </p:cNvPr>
          <p:cNvSpPr/>
          <p:nvPr/>
        </p:nvSpPr>
        <p:spPr>
          <a:xfrm>
            <a:off x="7645400" y="4127500"/>
            <a:ext cx="228600" cy="381000"/>
          </a:xfrm>
          <a:prstGeom prst="rightArrow">
            <a:avLst/>
          </a:prstGeom>
          <a:solidFill>
            <a:srgbClr val="D4A3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F08ED5E-81DA-44FF-A395-0A7DE6DA7AAA}"/>
              </a:ext>
            </a:extLst>
          </p:cNvPr>
          <p:cNvSpPr/>
          <p:nvPr/>
        </p:nvSpPr>
        <p:spPr>
          <a:xfrm>
            <a:off x="7874000" y="2286000"/>
            <a:ext cx="3302000" cy="406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3D00D8-5745-4E75-9E85-F49FF0F0C82D}"/>
              </a:ext>
            </a:extLst>
          </p:cNvPr>
          <p:cNvSpPr/>
          <p:nvPr/>
        </p:nvSpPr>
        <p:spPr>
          <a:xfrm>
            <a:off x="7874000" y="2286000"/>
            <a:ext cx="3302000" cy="635000"/>
          </a:xfrm>
          <a:prstGeom prst="rect">
            <a:avLst/>
          </a:prstGeom>
          <a:solidFill>
            <a:srgbClr val="5C837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A65E01A-3815-4ECB-8530-EB0943D340E6}"/>
              </a:ext>
            </a:extLst>
          </p:cNvPr>
          <p:cNvSpPr txBox="1"/>
          <p:nvPr/>
        </p:nvSpPr>
        <p:spPr>
          <a:xfrm>
            <a:off x="8128000" y="2387600"/>
            <a:ext cx="2794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200" b="1">
                <a:solidFill>
                  <a:srgbClr val="FFFFFF"/>
                </a:solidFill>
                <a:latin typeface="Playfair Display"/>
              </a:rPr>
              <a:t>Mitigación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8DE96AD-BE1E-4F7F-BA2A-E03AAE0006E7}"/>
              </a:ext>
            </a:extLst>
          </p:cNvPr>
          <p:cNvSpPr txBox="1"/>
          <p:nvPr/>
        </p:nvSpPr>
        <p:spPr>
          <a:xfrm>
            <a:off x="8128000" y="3175000"/>
            <a:ext cx="2794000" cy="304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• Datasets diversos y auditados
• Métricas de equidad (demographic parity)
• Equipos multidisciplinarios
• Auditorías externas y monitoreo continuo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43647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E81764C-4503-4311-8B93-4C76521EDC3C}"/>
              </a:ext>
            </a:extLst>
          </p:cNvPr>
          <p:cNvSpPr txBox="1"/>
          <p:nvPr/>
        </p:nvSpPr>
        <p:spPr>
          <a:xfrm>
            <a:off x="762000" y="635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C84B31"/>
                </a:solidFill>
                <a:latin typeface="Inter"/>
              </a:rPr>
              <a:t>07  /  GOBERNANZA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1F0E9D-5FBD-4B2C-86A4-43F9BE9392C0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3600" b="1">
                <a:solidFill>
                  <a:srgbClr val="0F4C5C"/>
                </a:solidFill>
                <a:latin typeface="Playfair Display"/>
              </a:rPr>
              <a:t>Responsabilidad y transparencia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61A2BC6-6A93-4E2B-83BE-B8FA3EE808BD}"/>
              </a:ext>
            </a:extLst>
          </p:cNvPr>
          <p:cNvSpPr/>
          <p:nvPr/>
        </p:nvSpPr>
        <p:spPr>
          <a:xfrm>
            <a:off x="762000" y="1905000"/>
            <a:ext cx="762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26A51F4-A2AB-4B7D-8632-DD9BAE85698D}"/>
              </a:ext>
            </a:extLst>
          </p:cNvPr>
          <p:cNvSpPr txBox="1"/>
          <p:nvPr/>
        </p:nvSpPr>
        <p:spPr>
          <a:xfrm>
            <a:off x="762000" y="2286000"/>
            <a:ext cx="4826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2800" b="1" i="1">
                <a:solidFill>
                  <a:srgbClr val="0F4C5C"/>
                </a:solidFill>
                <a:latin typeface="Playfair Display"/>
              </a:rPr>
              <a:t>¿Quién responde cuando la IA se equivoca?</a:t>
            </a:r>
            <a:endParaRPr lang="es-EC" sz="2800" b="1" i="1">
              <a:solidFill>
                <a:srgbClr val="0F4C5C"/>
              </a:solidFill>
              <a:latin typeface="Playfair Display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3AC9F9-09B0-41B3-A639-1AEE6945BA44}"/>
              </a:ext>
            </a:extLst>
          </p:cNvPr>
          <p:cNvSpPr txBox="1"/>
          <p:nvPr/>
        </p:nvSpPr>
        <p:spPr>
          <a:xfrm>
            <a:off x="762000" y="4191000"/>
            <a:ext cx="48260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3A3845"/>
                </a:solidFill>
                <a:latin typeface="Inter"/>
              </a:rPr>
              <a:t>La responsabilidad se distribuye entre múltiples actores y su atribución es uno de los debates centrales de la ética de la IA.</a:t>
            </a:r>
            <a:endParaRPr lang="es-EC" sz="1400">
              <a:solidFill>
                <a:srgbClr val="3A3845"/>
              </a:solidFill>
              <a:latin typeface="Inter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56CFCAE-2E9D-4B39-BC45-BFA6D85393C9}"/>
              </a:ext>
            </a:extLst>
          </p:cNvPr>
          <p:cNvSpPr/>
          <p:nvPr/>
        </p:nvSpPr>
        <p:spPr>
          <a:xfrm>
            <a:off x="6096000" y="2286000"/>
            <a:ext cx="457200" cy="457200"/>
          </a:xfrm>
          <a:prstGeom prst="ellips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0605AA-44CB-401F-8A8D-F3678619A778}"/>
              </a:ext>
            </a:extLst>
          </p:cNvPr>
          <p:cNvSpPr txBox="1"/>
          <p:nvPr/>
        </p:nvSpPr>
        <p:spPr>
          <a:xfrm>
            <a:off x="6731000" y="2260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600" b="1">
                <a:solidFill>
                  <a:srgbClr val="0F4C5C"/>
                </a:solidFill>
                <a:latin typeface="Inter"/>
              </a:rPr>
              <a:t>Desarrolladores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5DA6681-A9BC-4ED2-B5A3-8D7FA684D048}"/>
              </a:ext>
            </a:extLst>
          </p:cNvPr>
          <p:cNvSpPr txBox="1"/>
          <p:nvPr/>
        </p:nvSpPr>
        <p:spPr>
          <a:xfrm>
            <a:off x="6731000" y="2590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Calidad del modelo, datos y pruebas.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C4C16CB-BC11-4BD7-A7BA-3A7081764811}"/>
              </a:ext>
            </a:extLst>
          </p:cNvPr>
          <p:cNvSpPr/>
          <p:nvPr/>
        </p:nvSpPr>
        <p:spPr>
          <a:xfrm>
            <a:off x="6096000" y="3175000"/>
            <a:ext cx="457200" cy="457200"/>
          </a:xfrm>
          <a:prstGeom prst="ellips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046E725-A393-4C24-9840-8987EBB9AD08}"/>
              </a:ext>
            </a:extLst>
          </p:cNvPr>
          <p:cNvSpPr txBox="1"/>
          <p:nvPr/>
        </p:nvSpPr>
        <p:spPr>
          <a:xfrm>
            <a:off x="6731000" y="3149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600" b="1">
                <a:solidFill>
                  <a:srgbClr val="0F4C5C"/>
                </a:solidFill>
                <a:latin typeface="Inter"/>
              </a:rPr>
              <a:t>Empresas que despliegan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382B92A-A53A-4757-A4E0-8E57672EFCB2}"/>
              </a:ext>
            </a:extLst>
          </p:cNvPr>
          <p:cNvSpPr txBox="1"/>
          <p:nvPr/>
        </p:nvSpPr>
        <p:spPr>
          <a:xfrm>
            <a:off x="6731000" y="3479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Uso, supervisión y comunicación al usuario.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396857A-D2EB-4790-BB3C-01CF6EC04D81}"/>
              </a:ext>
            </a:extLst>
          </p:cNvPr>
          <p:cNvSpPr/>
          <p:nvPr/>
        </p:nvSpPr>
        <p:spPr>
          <a:xfrm>
            <a:off x="6096000" y="4064000"/>
            <a:ext cx="457200" cy="457200"/>
          </a:xfrm>
          <a:prstGeom prst="ellips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C70117-4E46-4CBB-842E-5B58850C4541}"/>
              </a:ext>
            </a:extLst>
          </p:cNvPr>
          <p:cNvSpPr txBox="1"/>
          <p:nvPr/>
        </p:nvSpPr>
        <p:spPr>
          <a:xfrm>
            <a:off x="6731000" y="4038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600" b="1">
                <a:solidFill>
                  <a:srgbClr val="0F4C5C"/>
                </a:solidFill>
                <a:latin typeface="Inter"/>
              </a:rPr>
              <a:t>Reguladores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CBA952-41D2-4F07-B381-536698C8448C}"/>
              </a:ext>
            </a:extLst>
          </p:cNvPr>
          <p:cNvSpPr txBox="1"/>
          <p:nvPr/>
        </p:nvSpPr>
        <p:spPr>
          <a:xfrm>
            <a:off x="6731000" y="4368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Marco legal, sanciones y estándares.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EE75B01-7B43-4CFC-ABA6-E673B3014F72}"/>
              </a:ext>
            </a:extLst>
          </p:cNvPr>
          <p:cNvSpPr/>
          <p:nvPr/>
        </p:nvSpPr>
        <p:spPr>
          <a:xfrm>
            <a:off x="6096000" y="4953000"/>
            <a:ext cx="457200" cy="457200"/>
          </a:xfrm>
          <a:prstGeom prst="ellips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46C534C-7443-4CF5-9EE3-289CAF5FD745}"/>
              </a:ext>
            </a:extLst>
          </p:cNvPr>
          <p:cNvSpPr txBox="1"/>
          <p:nvPr/>
        </p:nvSpPr>
        <p:spPr>
          <a:xfrm>
            <a:off x="6731000" y="4927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600" b="1">
                <a:solidFill>
                  <a:srgbClr val="0F4C5C"/>
                </a:solidFill>
                <a:latin typeface="Inter"/>
              </a:rPr>
              <a:t>Usuarios finales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7A7C49D-B1D1-48F9-8666-76E6D64DE400}"/>
              </a:ext>
            </a:extLst>
          </p:cNvPr>
          <p:cNvSpPr txBox="1"/>
          <p:nvPr/>
        </p:nvSpPr>
        <p:spPr>
          <a:xfrm>
            <a:off x="6731000" y="5257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Uso informado y crítico del sistema.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4E5E4AB-B814-4F70-B3A4-B0E0C812F240}"/>
              </a:ext>
            </a:extLst>
          </p:cNvPr>
          <p:cNvSpPr/>
          <p:nvPr/>
        </p:nvSpPr>
        <p:spPr>
          <a:xfrm>
            <a:off x="762000" y="5842000"/>
            <a:ext cx="10668000" cy="635000"/>
          </a:xfrm>
          <a:prstGeom prst="rect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96C7CC6-971D-4E20-BBAF-4F085789D2B4}"/>
              </a:ext>
            </a:extLst>
          </p:cNvPr>
          <p:cNvSpPr txBox="1"/>
          <p:nvPr/>
        </p:nvSpPr>
        <p:spPr>
          <a:xfrm>
            <a:off x="1016000" y="59944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500" b="1">
                <a:solidFill>
                  <a:srgbClr val="F5EFE6"/>
                </a:solidFill>
                <a:latin typeface="Inter"/>
              </a:rPr>
              <a:t>Desarrollo ético = explicabilidad · trazabilidad · auditabilidad · rendición de cuentas</a:t>
            </a:r>
            <a:endParaRPr lang="es-EC" sz="1500" b="1">
              <a:solidFill>
                <a:srgbClr val="F5EFE6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977899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90B0EA-FEFA-485E-BDEE-4B6C728CDAE8}"/>
              </a:ext>
            </a:extLst>
          </p:cNvPr>
          <p:cNvSpPr txBox="1"/>
          <p:nvPr/>
        </p:nvSpPr>
        <p:spPr>
          <a:xfrm>
            <a:off x="762000" y="635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C84B31"/>
                </a:solidFill>
                <a:latin typeface="Inter"/>
              </a:rPr>
              <a:t>08  /  DATOS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1AA133-16D6-4D00-B0EA-0E35629ED77A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3600" b="1">
                <a:solidFill>
                  <a:srgbClr val="0F4C5C"/>
                </a:solidFill>
                <a:latin typeface="Playfair Display"/>
              </a:rPr>
              <a:t>Privacidad y uso de datos</a:t>
            </a:r>
            <a:endParaRPr lang="es-EC" sz="3600" b="1">
              <a:solidFill>
                <a:srgbClr val="0F4C5C"/>
              </a:solidFill>
              <a:latin typeface="Playfair Display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102C1A2-4200-4E20-A2FB-30A120BB542F}"/>
              </a:ext>
            </a:extLst>
          </p:cNvPr>
          <p:cNvSpPr/>
          <p:nvPr/>
        </p:nvSpPr>
        <p:spPr>
          <a:xfrm>
            <a:off x="762000" y="1905000"/>
            <a:ext cx="762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56630B-CCC2-4BD9-B06C-461AE5360442}"/>
              </a:ext>
            </a:extLst>
          </p:cNvPr>
          <p:cNvSpPr txBox="1"/>
          <p:nvPr/>
        </p:nvSpPr>
        <p:spPr>
          <a:xfrm>
            <a:off x="762000" y="2286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000" b="1">
                <a:solidFill>
                  <a:srgbClr val="C84B31"/>
                </a:solidFill>
                <a:latin typeface="Playfair Display"/>
              </a:rPr>
              <a:t>Dilemas éticos clave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5EC05EC-3571-49F0-9DCC-A6A3ACED04AB}"/>
              </a:ext>
            </a:extLst>
          </p:cNvPr>
          <p:cNvSpPr/>
          <p:nvPr/>
        </p:nvSpPr>
        <p:spPr>
          <a:xfrm>
            <a:off x="762000" y="2870200"/>
            <a:ext cx="127000" cy="127000"/>
          </a:xfrm>
          <a:prstGeom prst="ellips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DC1F20-7902-4D11-8E1D-B3747BDF0F48}"/>
              </a:ext>
            </a:extLst>
          </p:cNvPr>
          <p:cNvSpPr txBox="1"/>
          <p:nvPr/>
        </p:nvSpPr>
        <p:spPr>
          <a:xfrm>
            <a:off x="1041400" y="2794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500" b="1">
                <a:solidFill>
                  <a:srgbClr val="0F4C5C"/>
                </a:solidFill>
                <a:latin typeface="Inter"/>
              </a:rPr>
              <a:t>Consentimiento informado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33D907-0D69-44B4-A405-BE537133A32E}"/>
              </a:ext>
            </a:extLst>
          </p:cNvPr>
          <p:cNvSpPr txBox="1"/>
          <p:nvPr/>
        </p:nvSpPr>
        <p:spPr>
          <a:xfrm>
            <a:off x="1041400" y="30734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¿Los usuarios entienden realmente qué datos se recolectan y cómo se usarán para entrenar modelos?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75DDEFC-B8BC-4B52-9C58-E8FDCB552AAD}"/>
              </a:ext>
            </a:extLst>
          </p:cNvPr>
          <p:cNvSpPr/>
          <p:nvPr/>
        </p:nvSpPr>
        <p:spPr>
          <a:xfrm>
            <a:off x="762000" y="3822700"/>
            <a:ext cx="127000" cy="127000"/>
          </a:xfrm>
          <a:prstGeom prst="ellips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4720ED7-13BF-4F12-BCB7-C8606B2F3AA2}"/>
              </a:ext>
            </a:extLst>
          </p:cNvPr>
          <p:cNvSpPr txBox="1"/>
          <p:nvPr/>
        </p:nvSpPr>
        <p:spPr>
          <a:xfrm>
            <a:off x="1041400" y="37465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500" b="1">
                <a:solidFill>
                  <a:srgbClr val="0F4C5C"/>
                </a:solidFill>
                <a:latin typeface="Inter"/>
              </a:rPr>
              <a:t>Datos como materia prima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58B0C6-5E90-451C-8FDA-52996DD4A700}"/>
              </a:ext>
            </a:extLst>
          </p:cNvPr>
          <p:cNvSpPr txBox="1"/>
          <p:nvPr/>
        </p:nvSpPr>
        <p:spPr>
          <a:xfrm>
            <a:off x="1041400" y="40259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Grandes modelos se entrenan con datos extraídos sin permiso explícito de creadores y usuarios.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3FDD2A1-2667-43B9-84B5-2365D784A7B1}"/>
              </a:ext>
            </a:extLst>
          </p:cNvPr>
          <p:cNvSpPr/>
          <p:nvPr/>
        </p:nvSpPr>
        <p:spPr>
          <a:xfrm>
            <a:off x="762000" y="4775200"/>
            <a:ext cx="127000" cy="127000"/>
          </a:xfrm>
          <a:prstGeom prst="ellips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F5B5709-7187-4E16-AF60-0CD8F23F6685}"/>
              </a:ext>
            </a:extLst>
          </p:cNvPr>
          <p:cNvSpPr txBox="1"/>
          <p:nvPr/>
        </p:nvSpPr>
        <p:spPr>
          <a:xfrm>
            <a:off x="1041400" y="4699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500" b="1">
                <a:solidFill>
                  <a:srgbClr val="0F4C5C"/>
                </a:solidFill>
                <a:latin typeface="Inter"/>
              </a:rPr>
              <a:t>Vigilancia y perfilado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5180254-F604-4C82-B3AD-BC5659B17D89}"/>
              </a:ext>
            </a:extLst>
          </p:cNvPr>
          <p:cNvSpPr txBox="1"/>
          <p:nvPr/>
        </p:nvSpPr>
        <p:spPr>
          <a:xfrm>
            <a:off x="1041400" y="49784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IA facilita monitoreo masivo, reconocimiento facial en espacios públicos y microsegmentación política.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985FC75-AD93-4960-92B8-C136CDFD2CEA}"/>
              </a:ext>
            </a:extLst>
          </p:cNvPr>
          <p:cNvSpPr/>
          <p:nvPr/>
        </p:nvSpPr>
        <p:spPr>
          <a:xfrm>
            <a:off x="762000" y="5727700"/>
            <a:ext cx="127000" cy="127000"/>
          </a:xfrm>
          <a:prstGeom prst="ellipse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6CF3E73-BA34-4DA8-86B1-8F6A77BBFA3B}"/>
              </a:ext>
            </a:extLst>
          </p:cNvPr>
          <p:cNvSpPr txBox="1"/>
          <p:nvPr/>
        </p:nvSpPr>
        <p:spPr>
          <a:xfrm>
            <a:off x="1041400" y="56515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500" b="1">
                <a:solidFill>
                  <a:srgbClr val="0F4C5C"/>
                </a:solidFill>
                <a:latin typeface="Inter"/>
              </a:rPr>
              <a:t>Reidentificación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526578C-2829-426D-A4E1-0291208C4A5D}"/>
              </a:ext>
            </a:extLst>
          </p:cNvPr>
          <p:cNvSpPr txBox="1"/>
          <p:nvPr/>
        </p:nvSpPr>
        <p:spPr>
          <a:xfrm>
            <a:off x="1041400" y="59309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>
                <a:solidFill>
                  <a:srgbClr val="1A2B2E"/>
                </a:solidFill>
                <a:latin typeface="Inter"/>
              </a:rPr>
              <a:t>Datos 'anonimizados' pueden cruzarse para revelar identidades, historiales médicos y hábitos privados.</a:t>
            </a:r>
            <a:endParaRPr lang="es-EC" sz="1300">
              <a:solidFill>
                <a:srgbClr val="1A2B2E"/>
              </a:solidFill>
              <a:latin typeface="Inter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EAD11C9-6BF3-4097-A4B7-7C5657D137FC}"/>
              </a:ext>
            </a:extLst>
          </p:cNvPr>
          <p:cNvSpPr/>
          <p:nvPr/>
        </p:nvSpPr>
        <p:spPr>
          <a:xfrm>
            <a:off x="6350000" y="2286000"/>
            <a:ext cx="5080000" cy="4191000"/>
          </a:xfrm>
          <a:prstGeom prst="rect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7B24EA2-96AD-44DB-8A29-0C0F9ED53D77}"/>
              </a:ext>
            </a:extLst>
          </p:cNvPr>
          <p:cNvSpPr txBox="1"/>
          <p:nvPr/>
        </p:nvSpPr>
        <p:spPr>
          <a:xfrm>
            <a:off x="6604000" y="25400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000" b="1">
                <a:solidFill>
                  <a:srgbClr val="D4A373"/>
                </a:solidFill>
                <a:latin typeface="Playfair Display"/>
              </a:rPr>
              <a:t>Regulación en Latinoamérica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9B1BB2A-EBA0-4AD3-A636-75068822EBF5}"/>
              </a:ext>
            </a:extLst>
          </p:cNvPr>
          <p:cNvSpPr/>
          <p:nvPr/>
        </p:nvSpPr>
        <p:spPr>
          <a:xfrm>
            <a:off x="6604000" y="3022600"/>
            <a:ext cx="381000" cy="254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5B41EF2-408D-4718-A5BC-13A861DB29A3}"/>
              </a:ext>
            </a:extLst>
          </p:cNvPr>
          <p:cNvSpPr txBox="1"/>
          <p:nvPr/>
        </p:nvSpPr>
        <p:spPr>
          <a:xfrm>
            <a:off x="6604000" y="32385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F5EFE6"/>
                </a:solidFill>
                <a:latin typeface="Inter"/>
              </a:rPr>
              <a:t>Brasil · LGPD (2020)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5298D98-9A4C-463D-9F66-42634F105E63}"/>
              </a:ext>
            </a:extLst>
          </p:cNvPr>
          <p:cNvSpPr txBox="1"/>
          <p:nvPr/>
        </p:nvSpPr>
        <p:spPr>
          <a:xfrm>
            <a:off x="6604000" y="35179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>
                <a:solidFill>
                  <a:srgbClr val="E8DFD0"/>
                </a:solidFill>
                <a:latin typeface="Inter"/>
              </a:rPr>
              <a:t>Ley General de Protección de Datos inspirada en GDPR europea.</a:t>
            </a:r>
            <a:endParaRPr lang="es-EC" sz="12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A36F647-639E-4E3D-911F-8097219A7C85}"/>
              </a:ext>
            </a:extLst>
          </p:cNvPr>
          <p:cNvSpPr txBox="1"/>
          <p:nvPr/>
        </p:nvSpPr>
        <p:spPr>
          <a:xfrm>
            <a:off x="6604000" y="4064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F5EFE6"/>
                </a:solidFill>
                <a:latin typeface="Inter"/>
              </a:rPr>
              <a:t>México · LFPDPPP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19F0914-50C3-4149-BB21-C2677AE2E12B}"/>
              </a:ext>
            </a:extLst>
          </p:cNvPr>
          <p:cNvSpPr txBox="1"/>
          <p:nvPr/>
        </p:nvSpPr>
        <p:spPr>
          <a:xfrm>
            <a:off x="6604000" y="4343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>
                <a:solidFill>
                  <a:srgbClr val="E8DFD0"/>
                </a:solidFill>
                <a:latin typeface="Inter"/>
              </a:rPr>
              <a:t>Ley federal de protección desde 2010, con actualización en debate.</a:t>
            </a:r>
            <a:endParaRPr lang="es-EC" sz="12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904BFCD-D63A-4A65-AB3F-D7845D2E8C61}"/>
              </a:ext>
            </a:extLst>
          </p:cNvPr>
          <p:cNvSpPr txBox="1"/>
          <p:nvPr/>
        </p:nvSpPr>
        <p:spPr>
          <a:xfrm>
            <a:off x="6604000" y="48895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F5EFE6"/>
                </a:solidFill>
                <a:latin typeface="Inter"/>
              </a:rPr>
              <a:t>Argentina · Ley 25.326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E282BFD-EFE4-4355-BC4F-352A5A6C7691}"/>
              </a:ext>
            </a:extLst>
          </p:cNvPr>
          <p:cNvSpPr txBox="1"/>
          <p:nvPr/>
        </p:nvSpPr>
        <p:spPr>
          <a:xfrm>
            <a:off x="6604000" y="51689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>
                <a:solidFill>
                  <a:srgbClr val="E8DFD0"/>
                </a:solidFill>
                <a:latin typeface="Inter"/>
              </a:rPr>
              <a:t>Protección integral de datos personales, pionera en la región.</a:t>
            </a:r>
            <a:endParaRPr lang="es-EC" sz="12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A2FCF3D-A6FF-4227-A3CD-1CB511B2E823}"/>
              </a:ext>
            </a:extLst>
          </p:cNvPr>
          <p:cNvSpPr txBox="1"/>
          <p:nvPr/>
        </p:nvSpPr>
        <p:spPr>
          <a:xfrm>
            <a:off x="6604000" y="5715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F5EFE6"/>
                </a:solidFill>
                <a:latin typeface="Inter"/>
              </a:rPr>
              <a:t>UNESCO · Recomendación 2021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69195D7-F95E-44C5-BB89-722BE3B8E9E8}"/>
              </a:ext>
            </a:extLst>
          </p:cNvPr>
          <p:cNvSpPr txBox="1"/>
          <p:nvPr/>
        </p:nvSpPr>
        <p:spPr>
          <a:xfrm>
            <a:off x="6604000" y="5994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>
                <a:solidFill>
                  <a:srgbClr val="E8DFD0"/>
                </a:solidFill>
                <a:latin typeface="Inter"/>
              </a:rPr>
              <a:t>Marco ético adoptado por 193 países, incluyendo toda la región.</a:t>
            </a:r>
            <a:endParaRPr lang="es-EC" sz="1200">
              <a:solidFill>
                <a:srgbClr val="E8DFD0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503494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103C1ED-371E-4A07-B90A-B71B15DAE7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35D91E-D3CC-4187-982D-293894E9613C}"/>
              </a:ext>
            </a:extLst>
          </p:cNvPr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9900C0B-1A51-4635-8C13-7C6C97A8DE24}"/>
              </a:ext>
            </a:extLst>
          </p:cNvPr>
          <p:cNvSpPr/>
          <p:nvPr/>
        </p:nvSpPr>
        <p:spPr>
          <a:xfrm>
            <a:off x="9906000" y="2032000"/>
            <a:ext cx="228600" cy="228600"/>
          </a:xfrm>
          <a:prstGeom prst="ellipse">
            <a:avLst/>
          </a:prstGeom>
          <a:solidFill>
            <a:srgbClr val="D4A37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1587E4D-3E0A-4815-9965-E675389B007E}"/>
              </a:ext>
            </a:extLst>
          </p:cNvPr>
          <p:cNvSpPr txBox="1"/>
          <p:nvPr/>
        </p:nvSpPr>
        <p:spPr>
          <a:xfrm>
            <a:off x="762000" y="635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1400" b="1">
                <a:solidFill>
                  <a:srgbClr val="D4A373"/>
                </a:solidFill>
                <a:latin typeface="Inter"/>
              </a:rPr>
              <a:t>09  /  CIERRE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31D4C3-2168-4781-B739-2A73313CC995}"/>
              </a:ext>
            </a:extLst>
          </p:cNvPr>
          <p:cNvSpPr txBox="1"/>
          <p:nvPr/>
        </p:nvSpPr>
        <p:spPr>
          <a:xfrm>
            <a:off x="762000" y="1016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3600" b="1">
                <a:solidFill>
                  <a:srgbClr val="F5EFE6"/>
                </a:solidFill>
                <a:latin typeface="Playfair Display"/>
              </a:rPr>
              <a:t>Hacia una IA ética y responsable</a:t>
            </a:r>
            <a:endParaRPr lang="es-EC" sz="3600" b="1">
              <a:solidFill>
                <a:srgbClr val="F5EFE6"/>
              </a:solidFill>
              <a:latin typeface="Playfair Display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E9667B-8EB1-4C73-863A-431E652D1767}"/>
              </a:ext>
            </a:extLst>
          </p:cNvPr>
          <p:cNvSpPr/>
          <p:nvPr/>
        </p:nvSpPr>
        <p:spPr>
          <a:xfrm>
            <a:off x="762000" y="1905000"/>
            <a:ext cx="762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0D1F03-8133-4B96-A023-DDC386AFD291}"/>
              </a:ext>
            </a:extLst>
          </p:cNvPr>
          <p:cNvSpPr/>
          <p:nvPr/>
        </p:nvSpPr>
        <p:spPr>
          <a:xfrm>
            <a:off x="762000" y="2413000"/>
            <a:ext cx="2032000" cy="2032000"/>
          </a:xfrm>
          <a:prstGeom prst="rect">
            <a:avLst/>
          </a:prstGeom>
          <a:noFill/>
          <a:ln w="19050" cap="flat" cmpd="sng" algn="ctr">
            <a:solidFill>
              <a:srgbClr val="D4A3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C95662F-CB79-4512-A2B7-F225A97E9BB8}"/>
              </a:ext>
            </a:extLst>
          </p:cNvPr>
          <p:cNvSpPr/>
          <p:nvPr/>
        </p:nvSpPr>
        <p:spPr>
          <a:xfrm>
            <a:off x="1016000" y="2667000"/>
            <a:ext cx="381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FCD4BE8-8741-455E-8BEB-9F9DA6866CF4}"/>
              </a:ext>
            </a:extLst>
          </p:cNvPr>
          <p:cNvSpPr txBox="1"/>
          <p:nvPr/>
        </p:nvSpPr>
        <p:spPr>
          <a:xfrm>
            <a:off x="1016000" y="28575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b="1">
                <a:solidFill>
                  <a:srgbClr val="F5EFE6"/>
                </a:solidFill>
                <a:latin typeface="Playfair Display"/>
              </a:rPr>
              <a:t>Humano
en el centro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6B0DC2-0FE6-48BA-A827-215C64298FDF}"/>
              </a:ext>
            </a:extLst>
          </p:cNvPr>
          <p:cNvSpPr txBox="1"/>
          <p:nvPr/>
        </p:nvSpPr>
        <p:spPr>
          <a:xfrm>
            <a:off x="1016000" y="36830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>
                <a:solidFill>
                  <a:srgbClr val="E8DFD0"/>
                </a:solidFill>
                <a:latin typeface="Inter"/>
              </a:rPr>
              <a:t>Decisiones críticas requieren supervisión humana.</a:t>
            </a:r>
            <a:endParaRPr lang="es-EC" sz="12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A3BA61-49CA-4EA8-812D-58B71E81D80B}"/>
              </a:ext>
            </a:extLst>
          </p:cNvPr>
          <p:cNvSpPr/>
          <p:nvPr/>
        </p:nvSpPr>
        <p:spPr>
          <a:xfrm>
            <a:off x="3048000" y="2413000"/>
            <a:ext cx="2032000" cy="2032000"/>
          </a:xfrm>
          <a:prstGeom prst="rect">
            <a:avLst/>
          </a:prstGeom>
          <a:noFill/>
          <a:ln w="19050" cap="flat" cmpd="sng" algn="ctr">
            <a:solidFill>
              <a:srgbClr val="D4A3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205440-E6C1-455B-9218-F0A5A6DC1808}"/>
              </a:ext>
            </a:extLst>
          </p:cNvPr>
          <p:cNvSpPr/>
          <p:nvPr/>
        </p:nvSpPr>
        <p:spPr>
          <a:xfrm>
            <a:off x="3302000" y="2667000"/>
            <a:ext cx="381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37EB326-DAC6-406F-A709-838896325A38}"/>
              </a:ext>
            </a:extLst>
          </p:cNvPr>
          <p:cNvSpPr txBox="1"/>
          <p:nvPr/>
        </p:nvSpPr>
        <p:spPr>
          <a:xfrm>
            <a:off x="3302000" y="28575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b="1">
                <a:solidFill>
                  <a:srgbClr val="F5EFE6"/>
                </a:solidFill>
                <a:latin typeface="Playfair Display"/>
              </a:rPr>
              <a:t>Equidad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766B883-463E-42D7-8E09-A2E3A2B50F57}"/>
              </a:ext>
            </a:extLst>
          </p:cNvPr>
          <p:cNvSpPr txBox="1"/>
          <p:nvPr/>
        </p:nvSpPr>
        <p:spPr>
          <a:xfrm>
            <a:off x="3302000" y="36830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>
                <a:solidFill>
                  <a:srgbClr val="E8DFD0"/>
                </a:solidFill>
                <a:latin typeface="Inter"/>
              </a:rPr>
              <a:t>Datasets diversos y métricas de justicia auditables.</a:t>
            </a:r>
            <a:endParaRPr lang="es-EC" sz="12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33C2BC4-80A2-48AC-B9FA-E4EDEE009B33}"/>
              </a:ext>
            </a:extLst>
          </p:cNvPr>
          <p:cNvSpPr/>
          <p:nvPr/>
        </p:nvSpPr>
        <p:spPr>
          <a:xfrm>
            <a:off x="5334000" y="2413000"/>
            <a:ext cx="2032000" cy="2032000"/>
          </a:xfrm>
          <a:prstGeom prst="rect">
            <a:avLst/>
          </a:prstGeom>
          <a:noFill/>
          <a:ln w="19050" cap="flat" cmpd="sng" algn="ctr">
            <a:solidFill>
              <a:srgbClr val="D4A3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4ECF0D8-5E84-4D0F-87E9-E9C21777C94A}"/>
              </a:ext>
            </a:extLst>
          </p:cNvPr>
          <p:cNvSpPr/>
          <p:nvPr/>
        </p:nvSpPr>
        <p:spPr>
          <a:xfrm>
            <a:off x="5588000" y="2667000"/>
            <a:ext cx="381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54687B2-0EFD-4054-8806-E4E274A0C5CD}"/>
              </a:ext>
            </a:extLst>
          </p:cNvPr>
          <p:cNvSpPr txBox="1"/>
          <p:nvPr/>
        </p:nvSpPr>
        <p:spPr>
          <a:xfrm>
            <a:off x="5588000" y="28575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b="1">
                <a:solidFill>
                  <a:srgbClr val="F5EFE6"/>
                </a:solidFill>
                <a:latin typeface="Playfair Display"/>
              </a:rPr>
              <a:t>Transparencia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0817B56-CBEC-465B-B62E-000AF26FB275}"/>
              </a:ext>
            </a:extLst>
          </p:cNvPr>
          <p:cNvSpPr txBox="1"/>
          <p:nvPr/>
        </p:nvSpPr>
        <p:spPr>
          <a:xfrm>
            <a:off x="5588000" y="36830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>
                <a:solidFill>
                  <a:srgbClr val="E8DFD0"/>
                </a:solidFill>
                <a:latin typeface="Inter"/>
              </a:rPr>
              <a:t>Explicabilidad y trazabilidad en cada sistema.</a:t>
            </a:r>
            <a:endParaRPr lang="es-EC" sz="12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0C93761-865F-45BA-855E-7BDF9142998F}"/>
              </a:ext>
            </a:extLst>
          </p:cNvPr>
          <p:cNvSpPr/>
          <p:nvPr/>
        </p:nvSpPr>
        <p:spPr>
          <a:xfrm>
            <a:off x="7620000" y="2413000"/>
            <a:ext cx="2032000" cy="2032000"/>
          </a:xfrm>
          <a:prstGeom prst="rect">
            <a:avLst/>
          </a:prstGeom>
          <a:noFill/>
          <a:ln w="19050" cap="flat" cmpd="sng" algn="ctr">
            <a:solidFill>
              <a:srgbClr val="D4A3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85FED71-C740-493F-8B43-632C6BBD39FE}"/>
              </a:ext>
            </a:extLst>
          </p:cNvPr>
          <p:cNvSpPr/>
          <p:nvPr/>
        </p:nvSpPr>
        <p:spPr>
          <a:xfrm>
            <a:off x="7874000" y="2667000"/>
            <a:ext cx="381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700F-A2B1-4DA7-830F-61092B713C40}"/>
              </a:ext>
            </a:extLst>
          </p:cNvPr>
          <p:cNvSpPr txBox="1"/>
          <p:nvPr/>
        </p:nvSpPr>
        <p:spPr>
          <a:xfrm>
            <a:off x="7874000" y="28575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b="1">
                <a:solidFill>
                  <a:srgbClr val="F5EFE6"/>
                </a:solidFill>
                <a:latin typeface="Playfair Display"/>
              </a:rPr>
              <a:t>Privacidad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DF9ADD2-2DC8-4E29-82AB-DF143F537E0A}"/>
              </a:ext>
            </a:extLst>
          </p:cNvPr>
          <p:cNvSpPr txBox="1"/>
          <p:nvPr/>
        </p:nvSpPr>
        <p:spPr>
          <a:xfrm>
            <a:off x="7874000" y="36830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>
                <a:solidFill>
                  <a:srgbClr val="E8DFD0"/>
                </a:solidFill>
                <a:latin typeface="Inter"/>
              </a:rPr>
              <a:t>Minimización de datos y consentimiento genuino.</a:t>
            </a:r>
            <a:endParaRPr lang="es-EC" sz="12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0BB093F-7490-49E5-A9B8-E9F8E1AD000F}"/>
              </a:ext>
            </a:extLst>
          </p:cNvPr>
          <p:cNvSpPr/>
          <p:nvPr/>
        </p:nvSpPr>
        <p:spPr>
          <a:xfrm>
            <a:off x="9906000" y="2413000"/>
            <a:ext cx="2032000" cy="2032000"/>
          </a:xfrm>
          <a:prstGeom prst="rect">
            <a:avLst/>
          </a:prstGeom>
          <a:noFill/>
          <a:ln w="19050" cap="flat" cmpd="sng" algn="ctr">
            <a:solidFill>
              <a:srgbClr val="D4A3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CBF91E3-561B-4A06-AE73-D9FA869A2266}"/>
              </a:ext>
            </a:extLst>
          </p:cNvPr>
          <p:cNvSpPr/>
          <p:nvPr/>
        </p:nvSpPr>
        <p:spPr>
          <a:xfrm>
            <a:off x="10160000" y="2667000"/>
            <a:ext cx="381000" cy="38100"/>
          </a:xfrm>
          <a:prstGeom prst="rect">
            <a:avLst/>
          </a:prstGeom>
          <a:solidFill>
            <a:srgbClr val="C84B3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A3893F2-0424-4F76-ADFA-10B8FA189656}"/>
              </a:ext>
            </a:extLst>
          </p:cNvPr>
          <p:cNvSpPr txBox="1"/>
          <p:nvPr/>
        </p:nvSpPr>
        <p:spPr>
          <a:xfrm>
            <a:off x="10160000" y="28575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b="1">
                <a:solidFill>
                  <a:srgbClr val="F5EFE6"/>
                </a:solidFill>
                <a:latin typeface="Playfair Display"/>
              </a:rPr>
              <a:t>Rendición
de cuentas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875C8B3-E601-49BB-9C49-9290F9369386}"/>
              </a:ext>
            </a:extLst>
          </p:cNvPr>
          <p:cNvSpPr txBox="1"/>
          <p:nvPr/>
        </p:nvSpPr>
        <p:spPr>
          <a:xfrm>
            <a:off x="10160000" y="36830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>
                <a:solidFill>
                  <a:srgbClr val="E8DFD0"/>
                </a:solidFill>
                <a:latin typeface="Inter"/>
              </a:rPr>
              <a:t>Responsabilidad clara a lo largo de la cadena.</a:t>
            </a:r>
            <a:endParaRPr lang="es-EC" sz="1200">
              <a:solidFill>
                <a:srgbClr val="E8DFD0"/>
              </a:solidFill>
              <a:latin typeface="Inter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C428899-9050-441A-B848-B1B6375481C1}"/>
              </a:ext>
            </a:extLst>
          </p:cNvPr>
          <p:cNvSpPr txBox="1"/>
          <p:nvPr/>
        </p:nvSpPr>
        <p:spPr>
          <a:xfrm>
            <a:off x="762000" y="5080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2200" i="1">
                <a:solidFill>
                  <a:srgbClr val="D4A373"/>
                </a:solidFill>
                <a:latin typeface="Playfair Display"/>
              </a:rPr>
              <a:t>"La pregunta no es si la IA transformará la sociedad, sino bajo qué valores lo hará."</a:t>
            </a:r>
            <a:endParaRPr lang="es-EC" sz="2200" i="1">
              <a:solidFill>
                <a:srgbClr val="D4A373"/>
              </a:solidFill>
              <a:latin typeface="Playfair Display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FA4588A-F226-4352-B1D2-1C50E1CEAF64}"/>
              </a:ext>
            </a:extLst>
          </p:cNvPr>
          <p:cNvSpPr txBox="1"/>
          <p:nvPr/>
        </p:nvSpPr>
        <p:spPr>
          <a:xfrm>
            <a:off x="762000" y="60325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C" sz="2600" b="1">
                <a:solidFill>
                  <a:srgbClr val="F5EFE6"/>
                </a:solidFill>
                <a:latin typeface="Playfair Display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4040726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76876472175]">
  <a:themeElements>
    <a:clrScheme name="Office">
      <a:dk1>
        <a:srgbClr val="1A2B2E"/>
      </a:dk1>
      <a:lt1>
        <a:srgbClr val="F5EFE6"/>
      </a:lt1>
      <a:dk2>
        <a:srgbClr val="0F4C5C"/>
      </a:dk2>
      <a:lt2>
        <a:srgbClr val="E8DFD0"/>
      </a:lt2>
      <a:accent1>
        <a:srgbClr val="0F4C5C"/>
      </a:accent1>
      <a:accent2>
        <a:srgbClr val="C84B31"/>
      </a:accent2>
      <a:accent3>
        <a:srgbClr val="D4A373"/>
      </a:accent3>
      <a:accent4>
        <a:srgbClr val="5C8374"/>
      </a:accent4>
      <a:accent5>
        <a:srgbClr val="3A3845"/>
      </a:accent5>
      <a:accent6>
        <a:srgbClr val="A63D2A"/>
      </a:accent6>
      <a:hlink>
        <a:srgbClr val="467886"/>
      </a:hlink>
      <a:folHlink>
        <a:srgbClr val="96607D"/>
      </a:folHlink>
    </a:clrScheme>
    <a:fontScheme name="Office">
      <a:majorFont>
        <a:latin typeface="Playfair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60BFAC-1AD1-4AC3-BBB0-3D0F619FA69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baa60fc-5036-46ac-9478-92d7f7cd9f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914</Words>
  <Application>Microsoft Office PowerPoint</Application>
  <PresentationFormat>Panorámica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Inter</vt:lpstr>
      <vt:lpstr>Playfair Display</vt:lpstr>
      <vt:lpstr>Tema de Office [1776876472175]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Wilmer Cárdenas</dc:creator>
  <cp:lastModifiedBy>Wilmer Cárdenas</cp:lastModifiedBy>
  <cp:revision>3</cp:revision>
  <dcterms:created xsi:type="dcterms:W3CDTF">2026-04-22T16:40:23Z</dcterms:created>
  <dcterms:modified xsi:type="dcterms:W3CDTF">2026-04-22T16:57:07Z</dcterms:modified>
</cp:coreProperties>
</file>